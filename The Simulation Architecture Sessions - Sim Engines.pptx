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33" r:id="rId1"/>
  </p:sldMasterIdLst>
  <p:notesMasterIdLst>
    <p:notesMasterId r:id="rId30"/>
  </p:notesMasterIdLst>
  <p:handoutMasterIdLst>
    <p:handoutMasterId r:id="rId31"/>
  </p:handoutMasterIdLst>
  <p:sldIdLst>
    <p:sldId id="256" r:id="rId2"/>
    <p:sldId id="257" r:id="rId3"/>
    <p:sldId id="258" r:id="rId4"/>
    <p:sldId id="259" r:id="rId5"/>
    <p:sldId id="262" r:id="rId6"/>
    <p:sldId id="264" r:id="rId7"/>
    <p:sldId id="265" r:id="rId8"/>
    <p:sldId id="286" r:id="rId9"/>
    <p:sldId id="266" r:id="rId10"/>
    <p:sldId id="267" r:id="rId11"/>
    <p:sldId id="268" r:id="rId12"/>
    <p:sldId id="269" r:id="rId13"/>
    <p:sldId id="271" r:id="rId14"/>
    <p:sldId id="270" r:id="rId15"/>
    <p:sldId id="272" r:id="rId16"/>
    <p:sldId id="273" r:id="rId17"/>
    <p:sldId id="284" r:id="rId18"/>
    <p:sldId id="274" r:id="rId19"/>
    <p:sldId id="275" r:id="rId20"/>
    <p:sldId id="279" r:id="rId21"/>
    <p:sldId id="276" r:id="rId22"/>
    <p:sldId id="277" r:id="rId23"/>
    <p:sldId id="278" r:id="rId24"/>
    <p:sldId id="280" r:id="rId25"/>
    <p:sldId id="281" r:id="rId26"/>
    <p:sldId id="283" r:id="rId27"/>
    <p:sldId id="285" r:id="rId28"/>
    <p:sldId id="282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F412"/>
    <a:srgbClr val="FF80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02" autoAdjust="0"/>
    <p:restoredTop sz="87293" autoAdjust="0"/>
  </p:normalViewPr>
  <p:slideViewPr>
    <p:cSldViewPr snapToGrid="0">
      <p:cViewPr varScale="1">
        <p:scale>
          <a:sx n="60" d="100"/>
          <a:sy n="60" d="100"/>
        </p:scale>
        <p:origin x="96" y="61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4" d="100"/>
          <a:sy n="74" d="100"/>
        </p:scale>
        <p:origin x="2034" y="6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smtClean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BE70D5-02A2-48F5-8702-96681CADE2E7}" type="datetimeFigureOut">
              <a:rPr lang="en-US" smtClean="0"/>
              <a:t>8/29/2018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9547B0-0649-49B4-9D68-110142938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001960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smtClean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B68B33-B1FF-42A9-8D24-6A898E1E8412}" type="datetimeFigureOut">
              <a:rPr lang="en-US" smtClean="0"/>
              <a:t>8/29/2018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smtClean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03E149-EEE1-4D28-A916-4A94C0C739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268475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First</a:t>
            </a:r>
            <a:r>
              <a:rPr lang="en-US" baseline="0" dirty="0" smtClean="0"/>
              <a:t> in a series of two sessions – the idea is to build off of the mini-simulation I have built here to further some interesting topics</a:t>
            </a:r>
            <a:endParaRPr lang="en-US" dirty="0" smtClean="0"/>
          </a:p>
          <a:p>
            <a:r>
              <a:rPr lang="en-US" dirty="0" smtClean="0"/>
              <a:t>Geared towards understanding the basics of simulation</a:t>
            </a:r>
            <a:r>
              <a:rPr lang="en-US" baseline="0" dirty="0" smtClean="0"/>
              <a:t> with some focus on C++ code of the mini-simulation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3E149-EEE1-4D28-A916-4A94C0C739F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8304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Simulations</a:t>
            </a:r>
            <a:r>
              <a:rPr lang="en-US" baseline="0" dirty="0" smtClean="0"/>
              <a:t> approximate reality – they are often used to represent something in the real world.  </a:t>
            </a:r>
          </a:p>
          <a:p>
            <a:r>
              <a:rPr lang="en-US" baseline="0" dirty="0" smtClean="0"/>
              <a:t>A simple example from the real-world - take this conversation between the legendary comics Abbott and Costello.</a:t>
            </a:r>
            <a:endParaRPr lang="en-US" dirty="0" smtClean="0"/>
          </a:p>
          <a:p>
            <a:r>
              <a:rPr lang="en-US" dirty="0" smtClean="0"/>
              <a:t>Abbott tells Costello</a:t>
            </a:r>
            <a:r>
              <a:rPr lang="en-US" baseline="0" dirty="0" smtClean="0"/>
              <a:t> “who is on first”.  Costello hears this and formulates his retort – “what are you </a:t>
            </a:r>
            <a:r>
              <a:rPr lang="en-US" baseline="0" dirty="0" err="1" smtClean="0"/>
              <a:t>askin</a:t>
            </a:r>
            <a:r>
              <a:rPr lang="en-US" baseline="0" dirty="0" smtClean="0"/>
              <a:t> me for?”  It’s a back and forth from the Who’s On First </a:t>
            </a:r>
            <a:r>
              <a:rPr lang="en-US" baseline="0" dirty="0" err="1" smtClean="0"/>
              <a:t>somedy</a:t>
            </a:r>
            <a:r>
              <a:rPr lang="en-US" baseline="0" dirty="0" smtClean="0"/>
              <a:t> skit….moving now into the virtual world….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smtClean="0"/>
              <a:t>Lockheed Martin Proprietary Information</a:t>
            </a:r>
          </a:p>
          <a:p>
            <a:endParaRPr lang="en-US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mtClean="0"/>
          </a:p>
          <a:p>
            <a:r>
              <a:rPr lang="en-US" smtClean="0"/>
              <a:t>Lockheed Martin Proprietary Information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3E149-EEE1-4D28-A916-4A94C0C739F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149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That same conversation</a:t>
            </a:r>
            <a:r>
              <a:rPr lang="en-US" baseline="0" dirty="0" smtClean="0"/>
              <a:t> between </a:t>
            </a:r>
            <a:r>
              <a:rPr lang="en-US" dirty="0" smtClean="0"/>
              <a:t>Abbott</a:t>
            </a:r>
            <a:r>
              <a:rPr lang="en-US" baseline="0" dirty="0" smtClean="0"/>
              <a:t> and Costello can be represented by the above simple simulation.  The simulation constructs of the Inputs, Engine and </a:t>
            </a:r>
            <a:r>
              <a:rPr lang="en-US" baseline="0" dirty="0" err="1" smtClean="0"/>
              <a:t>MessageQueue</a:t>
            </a:r>
            <a:r>
              <a:rPr lang="en-US" baseline="0" dirty="0" smtClean="0"/>
              <a:t> will be discussed later but at a high level….describe message flow</a:t>
            </a:r>
          </a:p>
          <a:p>
            <a:r>
              <a:rPr lang="en-US" baseline="0" dirty="0" smtClean="0"/>
              <a:t>So for this lunch and learn I have created this very simulation – essentially a simulation of the Who’s On First dialog between Abbott and Costello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smtClean="0"/>
              <a:t>Lockheed Martin Proprietary Information</a:t>
            </a:r>
          </a:p>
          <a:p>
            <a:endParaRPr lang="en-US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mtClean="0"/>
          </a:p>
          <a:p>
            <a:r>
              <a:rPr lang="en-US" smtClean="0"/>
              <a:t>Lockheed Martin Proprietary Information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3E149-EEE1-4D28-A916-4A94C0C739F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5537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Components</a:t>
            </a:r>
            <a:r>
              <a:rPr lang="en-US" baseline="0" dirty="0" smtClean="0"/>
              <a:t> you are familiar with – SSTRESS, ARES, C3ISim </a:t>
            </a:r>
            <a:r>
              <a:rPr lang="en-US" baseline="0" dirty="0" err="1" smtClean="0"/>
              <a:t>etc</a:t>
            </a:r>
            <a:r>
              <a:rPr lang="en-US" baseline="0" dirty="0" smtClean="0"/>
              <a:t>…</a:t>
            </a:r>
          </a:p>
          <a:p>
            <a:r>
              <a:rPr lang="en-US" baseline="0" dirty="0" smtClean="0"/>
              <a:t>Pushes messages onto the Message Queue</a:t>
            </a:r>
          </a:p>
          <a:p>
            <a:r>
              <a:rPr lang="en-US" baseline="0" dirty="0" smtClean="0"/>
              <a:t>The Engine manages the subscriptions and message forwarding but more about that later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3E149-EEE1-4D28-A916-4A94C0C739F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4759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</a:t>
            </a:r>
            <a:r>
              <a:rPr lang="en-US" baseline="0" dirty="0" smtClean="0"/>
              <a:t> the case of our simple sim here – the message payload will simply contain a line from the script and the send time will be a parameter that we read in that controls the flow of the messages – managed by the Engine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3E149-EEE1-4D28-A916-4A94C0C739F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0034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 double ended</a:t>
            </a:r>
            <a:r>
              <a:rPr lang="en-US" baseline="0" dirty="0" smtClean="0"/>
              <a:t> queue that messages can be pushed on and popped off again controlled by the Engine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3E149-EEE1-4D28-A916-4A94C0C739F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524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The engine</a:t>
            </a:r>
            <a:r>
              <a:rPr lang="en-US" baseline="0" dirty="0" smtClean="0"/>
              <a:t> is the heart of the simulation – responsible for moving things along and the home of the main execution loop</a:t>
            </a:r>
            <a:endParaRPr lang="en-US" dirty="0" smtClean="0"/>
          </a:p>
          <a:p>
            <a:r>
              <a:rPr lang="en-US" dirty="0" smtClean="0"/>
              <a:t>Registers</a:t>
            </a:r>
            <a:r>
              <a:rPr lang="en-US" baseline="0" dirty="0" smtClean="0"/>
              <a:t> players and their subscriptions</a:t>
            </a:r>
          </a:p>
          <a:p>
            <a:r>
              <a:rPr lang="en-US" baseline="0" dirty="0" smtClean="0"/>
              <a:t>Controls the message routing and the flow/timing of messages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3E149-EEE1-4D28-A916-4A94C0C739F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4372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The main execution loop is the primary persistent</a:t>
            </a:r>
            <a:r>
              <a:rPr lang="en-US" baseline="0" dirty="0" smtClean="0"/>
              <a:t> process in the simulation.</a:t>
            </a:r>
          </a:p>
          <a:p>
            <a:r>
              <a:rPr lang="en-US" baseline="0" dirty="0" smtClean="0"/>
              <a:t>The </a:t>
            </a:r>
            <a:r>
              <a:rPr lang="en-US" baseline="0" dirty="0" err="1" smtClean="0"/>
              <a:t>sendTime</a:t>
            </a:r>
            <a:r>
              <a:rPr lang="en-US" baseline="0" dirty="0" smtClean="0"/>
              <a:t> </a:t>
            </a:r>
            <a:r>
              <a:rPr lang="en-US" baseline="0" smtClean="0"/>
              <a:t>is variable.</a:t>
            </a:r>
            <a:endParaRPr lang="en-US" dirty="0" smtClean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3E149-EEE1-4D28-A916-4A94C0C739F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3673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For our</a:t>
            </a:r>
            <a:r>
              <a:rPr lang="en-US" baseline="0" dirty="0" smtClean="0"/>
              <a:t> simple simulation – there are inputs for who is playing, their subscriptions, their comedic scripts and the comedic timing – more on the inputs later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3E149-EEE1-4D28-A916-4A94C0C739F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5868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The main program </a:t>
            </a:r>
            <a:r>
              <a:rPr lang="en-US" dirty="0" smtClean="0"/>
              <a:t>(main.cpp)</a:t>
            </a:r>
            <a:r>
              <a:rPr lang="en-US" baseline="0" dirty="0" smtClean="0"/>
              <a:t> </a:t>
            </a:r>
            <a:r>
              <a:rPr lang="en-US" dirty="0" smtClean="0"/>
              <a:t>creates </a:t>
            </a:r>
            <a:r>
              <a:rPr lang="en-US" dirty="0" smtClean="0"/>
              <a:t>and uses </a:t>
            </a:r>
            <a:r>
              <a:rPr lang="en-US" baseline="0" dirty="0" smtClean="0"/>
              <a:t>the constituents of the simulation – think of it as the main task list for what the simulation is attempting to </a:t>
            </a:r>
            <a:r>
              <a:rPr lang="en-US" baseline="0" dirty="0" smtClean="0"/>
              <a:t>accomplish.  Main is the entry point of execution.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3E149-EEE1-4D28-A916-4A94C0C739F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0493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3E149-EEE1-4D28-A916-4A94C0C739F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6751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3E149-EEE1-4D28-A916-4A94C0C739F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5813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3E149-EEE1-4D28-A916-4A94C0C739F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825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The main player…</a:t>
            </a:r>
          </a:p>
          <a:p>
            <a:r>
              <a:rPr lang="en-US" dirty="0" err="1" smtClean="0"/>
              <a:t>comedicDelay</a:t>
            </a:r>
            <a:r>
              <a:rPr lang="en-US" baseline="0" dirty="0" smtClean="0"/>
              <a:t> is the offset added to the messages which is read from the timing file</a:t>
            </a:r>
            <a:endParaRPr lang="en-US" dirty="0" smtClean="0"/>
          </a:p>
          <a:p>
            <a:r>
              <a:rPr lang="en-US" dirty="0" err="1" smtClean="0"/>
              <a:t>mySubscriptions</a:t>
            </a:r>
            <a:r>
              <a:rPr lang="en-US" baseline="0" dirty="0" smtClean="0"/>
              <a:t> is a vector containing all of the component’s desired topics to receive</a:t>
            </a:r>
            <a:endParaRPr lang="en-US" dirty="0" smtClean="0"/>
          </a:p>
          <a:p>
            <a:r>
              <a:rPr lang="en-US" dirty="0" err="1" smtClean="0"/>
              <a:t>myLines</a:t>
            </a:r>
            <a:r>
              <a:rPr lang="en-US" dirty="0" smtClean="0"/>
              <a:t> is a vector containing all of the component’s lines</a:t>
            </a:r>
            <a:r>
              <a:rPr lang="en-US" baseline="0" dirty="0" smtClean="0"/>
              <a:t> for the skit</a:t>
            </a:r>
          </a:p>
          <a:p>
            <a:r>
              <a:rPr lang="en-US" baseline="0" dirty="0" err="1" smtClean="0"/>
              <a:t>registerSubscriptions</a:t>
            </a:r>
            <a:r>
              <a:rPr lang="en-US" baseline="0" dirty="0" smtClean="0"/>
              <a:t> pulls subs from input</a:t>
            </a:r>
          </a:p>
          <a:p>
            <a:r>
              <a:rPr lang="en-US" baseline="0" dirty="0" err="1" smtClean="0"/>
              <a:t>readLines</a:t>
            </a:r>
            <a:r>
              <a:rPr lang="en-US" baseline="0" dirty="0" smtClean="0"/>
              <a:t> pulls lines from input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smtClean="0"/>
              <a:t>Lockheed Martin Proprietary Information</a:t>
            </a:r>
          </a:p>
          <a:p>
            <a:endParaRPr lang="en-US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mtClean="0"/>
          </a:p>
          <a:p>
            <a:r>
              <a:rPr lang="en-US" smtClean="0"/>
              <a:t>Lockheed Martin Proprietary Information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3E149-EEE1-4D28-A916-4A94C0C739F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1072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Uses the factory design pattern - invoked by the main program to produce components – the factory</a:t>
            </a:r>
            <a:r>
              <a:rPr lang="en-US" baseline="0" dirty="0" smtClean="0"/>
              <a:t> serves as a knowledge base and knows how to build components.  Maybe some objects need a reference to some other object X, which the factory can provide, but in main where you want to construct A, B or C can't or shouldn't have access to X.  This is where a factory is advantageous.  In this case – the factory is extremely simplistic and perhaps is overkill.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3E149-EEE1-4D28-A916-4A94C0C739F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1699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myLine</a:t>
            </a:r>
            <a:r>
              <a:rPr lang="en-US" baseline="0" dirty="0" smtClean="0"/>
              <a:t> is the line of the skit packed into the message</a:t>
            </a:r>
          </a:p>
          <a:p>
            <a:r>
              <a:rPr lang="en-US" baseline="0" dirty="0" err="1" smtClean="0"/>
              <a:t>sendTime</a:t>
            </a:r>
            <a:r>
              <a:rPr lang="en-US" baseline="0" dirty="0" smtClean="0"/>
              <a:t> is the time delay which is set in the timing file – 0 delay is an asynchronous message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smtClean="0"/>
              <a:t>Lockheed Martin Proprietary Information</a:t>
            </a:r>
          </a:p>
          <a:p>
            <a:endParaRPr lang="en-US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mtClean="0"/>
          </a:p>
          <a:p>
            <a:r>
              <a:rPr lang="en-US" smtClean="0"/>
              <a:t>Lockheed Martin Proprietary Information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3E149-EEE1-4D28-A916-4A94C0C739F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3674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Uses</a:t>
            </a:r>
            <a:r>
              <a:rPr lang="en-US" baseline="0" dirty="0" smtClean="0"/>
              <a:t> the singleton design pattern – when Instance() is called – if it does not already exist it is statically created.  Static variables can be accessed anywhere within the program so for a message queue this can be quite advantageous.  Prevents passing the message queue around and making copies.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3E149-EEE1-4D28-A916-4A94C0C739F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58387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The heart</a:t>
            </a:r>
            <a:r>
              <a:rPr lang="en-US" baseline="0" dirty="0" smtClean="0"/>
              <a:t> of the sim…</a:t>
            </a:r>
            <a:endParaRPr lang="en-US" dirty="0" smtClean="0"/>
          </a:p>
          <a:p>
            <a:r>
              <a:rPr lang="en-US" dirty="0" err="1" smtClean="0"/>
              <a:t>registeredComponents</a:t>
            </a:r>
            <a:r>
              <a:rPr lang="en-US" baseline="0" dirty="0" smtClean="0"/>
              <a:t> is a vector of components playing</a:t>
            </a:r>
          </a:p>
          <a:p>
            <a:r>
              <a:rPr lang="en-US" baseline="0" dirty="0" err="1" smtClean="0"/>
              <a:t>topicComponentMap</a:t>
            </a:r>
            <a:r>
              <a:rPr lang="en-US" baseline="0" dirty="0" smtClean="0"/>
              <a:t> is a map of components playing to the subscriptions that they have requested</a:t>
            </a:r>
          </a:p>
          <a:p>
            <a:r>
              <a:rPr lang="en-US" baseline="0" dirty="0" err="1" smtClean="0"/>
              <a:t>sendMessageToSubscribers</a:t>
            </a:r>
            <a:r>
              <a:rPr lang="en-US" baseline="0" dirty="0" smtClean="0"/>
              <a:t> routes message to components that have registered to the message topic</a:t>
            </a:r>
          </a:p>
          <a:p>
            <a:r>
              <a:rPr lang="en-US" baseline="0" dirty="0" smtClean="0"/>
              <a:t>execute is the main execution loop and controls the message timing and flow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smtClean="0"/>
              <a:t>Lockheed Martin Proprietary Information</a:t>
            </a:r>
          </a:p>
          <a:p>
            <a:endParaRPr lang="en-US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mtClean="0"/>
          </a:p>
          <a:p>
            <a:r>
              <a:rPr lang="en-US" smtClean="0"/>
              <a:t>Lockheed Martin Proprietary Information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3E149-EEE1-4D28-A916-4A94C0C739F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464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Within initialization of Abbott – since he starts the script – the first message is pushed BEFORE the</a:t>
            </a:r>
            <a:r>
              <a:rPr lang="en-US" baseline="0" dirty="0" smtClean="0"/>
              <a:t> main execution loop</a:t>
            </a:r>
            <a:endParaRPr lang="en-US" dirty="0" smtClean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smtClean="0"/>
              <a:t>Lockheed Martin Proprietary Information</a:t>
            </a:r>
          </a:p>
          <a:p>
            <a:endParaRPr lang="en-US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mtClean="0"/>
          </a:p>
          <a:p>
            <a:r>
              <a:rPr lang="en-US" smtClean="0"/>
              <a:t>Lockheed Martin Proprietary Information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3E149-EEE1-4D28-A916-4A94C0C739F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80429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Within initialization of Abbott – since he starts the script – the first message is pushed BEFORE the</a:t>
            </a:r>
            <a:r>
              <a:rPr lang="en-US" baseline="0" dirty="0" smtClean="0"/>
              <a:t> main execution loop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smtClean="0"/>
              <a:t>Lockheed Martin Proprietary Information</a:t>
            </a:r>
          </a:p>
          <a:p>
            <a:endParaRPr lang="en-US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mtClean="0"/>
          </a:p>
          <a:p>
            <a:r>
              <a:rPr lang="en-US" smtClean="0"/>
              <a:t>Lockheed Martin Proprietary Information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3E149-EEE1-4D28-A916-4A94C0C739F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3571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smtClean="0"/>
              <a:t>Lockheed Martin Proprietary Information</a:t>
            </a:r>
          </a:p>
          <a:p>
            <a:endParaRPr lang="en-US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mtClean="0"/>
          </a:p>
          <a:p>
            <a:r>
              <a:rPr lang="en-US" smtClean="0"/>
              <a:t>Lockheed Martin Proprietary Information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3E149-EEE1-4D28-A916-4A94C0C739F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53921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3E149-EEE1-4D28-A916-4A94C0C739FF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6225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003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8/29/2018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52027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66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5499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8/29/2018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074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8/29/2018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815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8/29/2018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4279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738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6631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8/29/2018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7486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8/29/2018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402786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8/29/2018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31762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8/29/2018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10599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8/29/2018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92552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68795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6066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03634" y="6437868"/>
            <a:ext cx="184731" cy="369332"/>
          </a:xfrm>
          <a:prstGeom prst="rect">
            <a:avLst/>
          </a:prstGeom>
        </p:spPr>
        <p:txBody>
          <a:bodyPr vert="horz" wrap="none" lIns="91440" tIns="45720" rIns="91440" bIns="45720" rtlCol="0" anchor="b" anchorCtr="1">
            <a:sp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smtClean="0"/>
          </a:p>
          <a:p>
            <a:endParaRPr lang="en-US" smtClean="0"/>
          </a:p>
        </p:txBody>
      </p:sp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8/29/2018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0581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  <p:sldLayoutId id="2147483745" r:id="rId12"/>
    <p:sldLayoutId id="2147483746" r:id="rId13"/>
    <p:sldLayoutId id="2147483747" r:id="rId14"/>
    <p:sldLayoutId id="2147483748" r:id="rId15"/>
    <p:sldLayoutId id="214748374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gitlab.lmms.lmco.com/pscheps/whos_on_first_simple_simulation_engine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003634" y="6576368"/>
            <a:ext cx="184731" cy="230832"/>
          </a:xfrm>
        </p:spPr>
        <p:txBody>
          <a:bodyPr wrap="none" anchor="b" anchorCtr="1">
            <a:spAutoFit/>
          </a:bodyPr>
          <a:lstStyle/>
          <a:p>
            <a:endParaRPr lang="en-US" smtClean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98952" y="1597398"/>
            <a:ext cx="7766936" cy="1646302"/>
          </a:xfrm>
        </p:spPr>
        <p:txBody>
          <a:bodyPr/>
          <a:lstStyle/>
          <a:p>
            <a:pPr algn="ctr"/>
            <a:r>
              <a:rPr lang="en-US" dirty="0"/>
              <a:t>The Simulation Architecture </a:t>
            </a:r>
            <a:r>
              <a:rPr lang="en-US" dirty="0" smtClean="0"/>
              <a:t>Sessions 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98952" y="4631464"/>
            <a:ext cx="7766936" cy="1096899"/>
          </a:xfrm>
        </p:spPr>
        <p:txBody>
          <a:bodyPr>
            <a:normAutofit/>
          </a:bodyPr>
          <a:lstStyle/>
          <a:p>
            <a:pPr algn="ctr"/>
            <a:r>
              <a:rPr lang="en-US" sz="2800" dirty="0" smtClean="0"/>
              <a:t>Paul Scheps</a:t>
            </a:r>
          </a:p>
          <a:p>
            <a:pPr algn="ctr"/>
            <a:r>
              <a:rPr lang="en-US" sz="2800" dirty="0" smtClean="0"/>
              <a:t>8/29/18</a:t>
            </a:r>
            <a:endParaRPr lang="en-US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1113" y="74709"/>
            <a:ext cx="2828810" cy="68232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267" y="6050638"/>
            <a:ext cx="2589397" cy="52105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031745" y="2862639"/>
            <a:ext cx="9501351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dirty="0">
                <a:solidFill>
                  <a:srgbClr val="4E67C8">
                    <a:lumMod val="75000"/>
                  </a:srgbClr>
                </a:solidFill>
                <a:ea typeface="+mj-ea"/>
                <a:cs typeface="+mj-cs"/>
              </a:rPr>
              <a:t>Simulation Engines - The Heart Of The Sim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794665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777" y="168166"/>
            <a:ext cx="8596668" cy="1320800"/>
          </a:xfrm>
        </p:spPr>
        <p:txBody>
          <a:bodyPr/>
          <a:lstStyle/>
          <a:p>
            <a:r>
              <a:rPr lang="en-US" dirty="0"/>
              <a:t>Simulations Approximate Reality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740830" y="1466286"/>
            <a:ext cx="3506399" cy="4682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alphaModFix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2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7560743" y="1466286"/>
            <a:ext cx="3238200" cy="470484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Oval Callout 5"/>
          <p:cNvSpPr/>
          <p:nvPr/>
        </p:nvSpPr>
        <p:spPr>
          <a:xfrm>
            <a:off x="4302208" y="1166648"/>
            <a:ext cx="1601778" cy="1103586"/>
          </a:xfrm>
          <a:prstGeom prst="wedgeEllipseCallout">
            <a:avLst>
              <a:gd name="adj1" fmla="val -124179"/>
              <a:gd name="adj2" fmla="val 86786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Who Is On First!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Oval Callout 6"/>
          <p:cNvSpPr/>
          <p:nvPr/>
        </p:nvSpPr>
        <p:spPr>
          <a:xfrm>
            <a:off x="5596759" y="1935654"/>
            <a:ext cx="1757956" cy="1333061"/>
          </a:xfrm>
          <a:prstGeom prst="wedgeEllipseCallout">
            <a:avLst>
              <a:gd name="adj1" fmla="val 106858"/>
              <a:gd name="adj2" fmla="val 3092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What Are You </a:t>
            </a:r>
            <a:r>
              <a:rPr lang="en-US" dirty="0" err="1" smtClean="0">
                <a:solidFill>
                  <a:schemeClr val="tx1"/>
                </a:solidFill>
              </a:rPr>
              <a:t>Askin</a:t>
            </a:r>
            <a:r>
              <a:rPr lang="en-US" dirty="0" smtClean="0">
                <a:solidFill>
                  <a:schemeClr val="tx1"/>
                </a:solidFill>
              </a:rPr>
              <a:t>’ Me For?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4294967295"/>
          </p:nvPr>
        </p:nvSpPr>
        <p:spPr>
          <a:xfrm>
            <a:off x="6003634" y="6437868"/>
            <a:ext cx="184731" cy="369332"/>
          </a:xfrm>
        </p:spPr>
        <p:txBody>
          <a:bodyPr/>
          <a:lstStyle/>
          <a:p>
            <a:endParaRPr lang="en-US" smtClean="0"/>
          </a:p>
        </p:txBody>
      </p:sp>
      <p:sp>
        <p:nvSpPr>
          <p:cNvPr id="9" name="Oval Callout 8"/>
          <p:cNvSpPr/>
          <p:nvPr/>
        </p:nvSpPr>
        <p:spPr>
          <a:xfrm>
            <a:off x="4302207" y="3118109"/>
            <a:ext cx="2114359" cy="1528354"/>
          </a:xfrm>
          <a:prstGeom prst="wedgeEllipseCallout">
            <a:avLst>
              <a:gd name="adj1" fmla="val -116629"/>
              <a:gd name="adj2" fmla="val -40943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I’m Not </a:t>
            </a:r>
            <a:r>
              <a:rPr lang="en-US" dirty="0" err="1" smtClean="0">
                <a:solidFill>
                  <a:schemeClr val="tx1"/>
                </a:solidFill>
              </a:rPr>
              <a:t>Askin</a:t>
            </a:r>
            <a:r>
              <a:rPr lang="en-US" dirty="0" smtClean="0">
                <a:solidFill>
                  <a:schemeClr val="tx1"/>
                </a:solidFill>
              </a:rPr>
              <a:t>’ You I’m </a:t>
            </a:r>
            <a:r>
              <a:rPr lang="en-US" dirty="0" err="1" smtClean="0">
                <a:solidFill>
                  <a:schemeClr val="tx1"/>
                </a:solidFill>
              </a:rPr>
              <a:t>Tellin</a:t>
            </a:r>
            <a:r>
              <a:rPr lang="en-US" dirty="0" smtClean="0">
                <a:solidFill>
                  <a:schemeClr val="tx1"/>
                </a:solidFill>
              </a:rPr>
              <a:t>’ You! Who Is On First!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Oval Callout 9"/>
          <p:cNvSpPr/>
          <p:nvPr/>
        </p:nvSpPr>
        <p:spPr>
          <a:xfrm>
            <a:off x="5537588" y="4495857"/>
            <a:ext cx="1757956" cy="1333061"/>
          </a:xfrm>
          <a:prstGeom prst="wedgeEllipseCallout">
            <a:avLst>
              <a:gd name="adj1" fmla="val 104168"/>
              <a:gd name="adj2" fmla="val -132286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I’m Asking You!  Who Is On First?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5373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777" y="168166"/>
            <a:ext cx="8596668" cy="1320800"/>
          </a:xfrm>
        </p:spPr>
        <p:txBody>
          <a:bodyPr/>
          <a:lstStyle/>
          <a:p>
            <a:r>
              <a:rPr lang="en-US" dirty="0"/>
              <a:t>Simulations Approximate Reality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4294967295"/>
          </p:nvPr>
        </p:nvSpPr>
        <p:spPr>
          <a:xfrm>
            <a:off x="6003634" y="6437868"/>
            <a:ext cx="184731" cy="369332"/>
          </a:xfrm>
        </p:spPr>
        <p:txBody>
          <a:bodyPr/>
          <a:lstStyle/>
          <a:p>
            <a:endParaRPr lang="en-US" smtClean="0"/>
          </a:p>
        </p:txBody>
      </p:sp>
      <p:grpSp>
        <p:nvGrpSpPr>
          <p:cNvPr id="71" name="Group 70"/>
          <p:cNvGrpSpPr/>
          <p:nvPr/>
        </p:nvGrpSpPr>
        <p:grpSpPr>
          <a:xfrm>
            <a:off x="714354" y="553124"/>
            <a:ext cx="10199704" cy="5995114"/>
            <a:chOff x="714354" y="553124"/>
            <a:chExt cx="10199704" cy="5995114"/>
          </a:xfrm>
        </p:grpSpPr>
        <p:grpSp>
          <p:nvGrpSpPr>
            <p:cNvPr id="69" name="Group 68"/>
            <p:cNvGrpSpPr/>
            <p:nvPr/>
          </p:nvGrpSpPr>
          <p:grpSpPr>
            <a:xfrm>
              <a:off x="714354" y="1478709"/>
              <a:ext cx="10199704" cy="5069529"/>
              <a:chOff x="714354" y="1478709"/>
              <a:chExt cx="10199704" cy="5069529"/>
            </a:xfrm>
          </p:grpSpPr>
          <p:grpSp>
            <p:nvGrpSpPr>
              <p:cNvPr id="63" name="Group 62"/>
              <p:cNvGrpSpPr/>
              <p:nvPr/>
            </p:nvGrpSpPr>
            <p:grpSpPr>
              <a:xfrm>
                <a:off x="714354" y="1478709"/>
                <a:ext cx="10199704" cy="5069529"/>
                <a:chOff x="714354" y="1478709"/>
                <a:chExt cx="10199704" cy="5069529"/>
              </a:xfrm>
            </p:grpSpPr>
            <p:sp>
              <p:nvSpPr>
                <p:cNvPr id="3" name="Rectangle 2"/>
                <p:cNvSpPr/>
                <p:nvPr/>
              </p:nvSpPr>
              <p:spPr>
                <a:xfrm>
                  <a:off x="714354" y="1488966"/>
                  <a:ext cx="2681089" cy="4059088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r>
                    <a:rPr lang="en-US" sz="2800" dirty="0" smtClean="0"/>
                    <a:t>Abbott Component</a:t>
                  </a:r>
                  <a:endParaRPr lang="en-US" sz="2800" dirty="0"/>
                </a:p>
              </p:txBody>
            </p:sp>
            <p:sp>
              <p:nvSpPr>
                <p:cNvPr id="11" name="Rectangle 10"/>
                <p:cNvSpPr/>
                <p:nvPr/>
              </p:nvSpPr>
              <p:spPr>
                <a:xfrm>
                  <a:off x="8226913" y="1478709"/>
                  <a:ext cx="2687145" cy="4069345"/>
                </a:xfrm>
                <a:prstGeom prst="rect">
                  <a:avLst/>
                </a:prstGeom>
                <a:solidFill>
                  <a:schemeClr val="accent3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r>
                    <a:rPr lang="en-US" sz="2800" dirty="0" smtClean="0"/>
                    <a:t>Costello Component</a:t>
                  </a:r>
                  <a:endParaRPr lang="en-US" sz="2800" dirty="0"/>
                </a:p>
              </p:txBody>
            </p:sp>
            <p:sp>
              <p:nvSpPr>
                <p:cNvPr id="14" name="Rectangle 13"/>
                <p:cNvSpPr/>
                <p:nvPr/>
              </p:nvSpPr>
              <p:spPr>
                <a:xfrm>
                  <a:off x="5163970" y="1478709"/>
                  <a:ext cx="1294416" cy="2394351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r>
                    <a:rPr lang="en-US" sz="2800" dirty="0" smtClean="0"/>
                    <a:t>Engine</a:t>
                  </a:r>
                  <a:endParaRPr lang="en-US" sz="2800" dirty="0"/>
                </a:p>
              </p:txBody>
            </p:sp>
            <p:cxnSp>
              <p:nvCxnSpPr>
                <p:cNvPr id="16" name="Straight Arrow Connector 15"/>
                <p:cNvCxnSpPr/>
                <p:nvPr/>
              </p:nvCxnSpPr>
              <p:spPr>
                <a:xfrm>
                  <a:off x="3395443" y="2175641"/>
                  <a:ext cx="2070465" cy="2993641"/>
                </a:xfrm>
                <a:prstGeom prst="straightConnector1">
                  <a:avLst/>
                </a:prstGeom>
                <a:ln w="5715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Arrow Connector 16"/>
                <p:cNvCxnSpPr/>
                <p:nvPr/>
              </p:nvCxnSpPr>
              <p:spPr>
                <a:xfrm flipV="1">
                  <a:off x="6197254" y="2175642"/>
                  <a:ext cx="2029659" cy="2949958"/>
                </a:xfrm>
                <a:prstGeom prst="straightConnector1">
                  <a:avLst/>
                </a:prstGeom>
                <a:ln w="5715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Arrow Connector 17"/>
                <p:cNvCxnSpPr/>
                <p:nvPr/>
              </p:nvCxnSpPr>
              <p:spPr>
                <a:xfrm>
                  <a:off x="3395443" y="3305501"/>
                  <a:ext cx="1843031" cy="2243961"/>
                </a:xfrm>
                <a:prstGeom prst="straightConnector1">
                  <a:avLst/>
                </a:prstGeom>
                <a:ln w="57150">
                  <a:solidFill>
                    <a:schemeClr val="accent3"/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Arrow Connector 18"/>
                <p:cNvCxnSpPr>
                  <a:stCxn id="41" idx="4"/>
                </p:cNvCxnSpPr>
                <p:nvPr/>
              </p:nvCxnSpPr>
              <p:spPr>
                <a:xfrm flipV="1">
                  <a:off x="6383881" y="3305501"/>
                  <a:ext cx="1843032" cy="2434955"/>
                </a:xfrm>
                <a:prstGeom prst="straightConnector1">
                  <a:avLst/>
                </a:prstGeom>
                <a:ln w="57150">
                  <a:solidFill>
                    <a:schemeClr val="accent3"/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Arrow Connector 19"/>
                <p:cNvCxnSpPr/>
                <p:nvPr/>
              </p:nvCxnSpPr>
              <p:spPr>
                <a:xfrm>
                  <a:off x="3395443" y="4487916"/>
                  <a:ext cx="1843031" cy="1487215"/>
                </a:xfrm>
                <a:prstGeom prst="straightConnector1">
                  <a:avLst/>
                </a:prstGeom>
                <a:ln w="5715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Arrow Connector 20"/>
                <p:cNvCxnSpPr/>
                <p:nvPr/>
              </p:nvCxnSpPr>
              <p:spPr>
                <a:xfrm flipV="1">
                  <a:off x="6383881" y="4487916"/>
                  <a:ext cx="1843032" cy="1487215"/>
                </a:xfrm>
                <a:prstGeom prst="straightConnector1">
                  <a:avLst/>
                </a:prstGeom>
                <a:ln w="5715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6" name="Curved Left Arrow 25"/>
                <p:cNvSpPr/>
                <p:nvPr/>
              </p:nvSpPr>
              <p:spPr>
                <a:xfrm>
                  <a:off x="8305867" y="2175641"/>
                  <a:ext cx="499578" cy="1245476"/>
                </a:xfrm>
                <a:prstGeom prst="curvedLeft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" name="TextBox 27"/>
                <p:cNvSpPr txBox="1"/>
                <p:nvPr/>
              </p:nvSpPr>
              <p:spPr>
                <a:xfrm>
                  <a:off x="8884399" y="2475213"/>
                  <a:ext cx="1101287" cy="9233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 smtClean="0">
                      <a:solidFill>
                        <a:schemeClr val="accent1">
                          <a:lumMod val="50000"/>
                        </a:schemeClr>
                      </a:solidFill>
                    </a:rPr>
                    <a:t>Process Message m1</a:t>
                  </a:r>
                  <a:endParaRPr lang="en-US" dirty="0">
                    <a:solidFill>
                      <a:schemeClr val="accent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30" name="Curved Right Arrow 29"/>
                <p:cNvSpPr/>
                <p:nvPr/>
              </p:nvSpPr>
              <p:spPr>
                <a:xfrm>
                  <a:off x="2725471" y="3154854"/>
                  <a:ext cx="504497" cy="1371600"/>
                </a:xfrm>
                <a:prstGeom prst="curvedRightArrow">
                  <a:avLst/>
                </a:prstGeom>
                <a:solidFill>
                  <a:schemeClr val="accent3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2" name="TextBox 31"/>
                <p:cNvSpPr txBox="1"/>
                <p:nvPr/>
              </p:nvSpPr>
              <p:spPr>
                <a:xfrm>
                  <a:off x="1683993" y="3496494"/>
                  <a:ext cx="1101287" cy="9233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 smtClean="0">
                      <a:solidFill>
                        <a:schemeClr val="accent1">
                          <a:lumMod val="50000"/>
                        </a:schemeClr>
                      </a:solidFill>
                    </a:rPr>
                    <a:t>Process Message m2</a:t>
                  </a:r>
                  <a:endParaRPr lang="en-US" dirty="0">
                    <a:solidFill>
                      <a:schemeClr val="accent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34" name="TextBox 33"/>
                <p:cNvSpPr txBox="1"/>
                <p:nvPr/>
              </p:nvSpPr>
              <p:spPr>
                <a:xfrm rot="3306057">
                  <a:off x="3718712" y="3645237"/>
                  <a:ext cx="197401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 smtClean="0"/>
                    <a:t>Abbott Message m1</a:t>
                  </a:r>
                  <a:endParaRPr lang="en-US" sz="1200" dirty="0"/>
                </a:p>
              </p:txBody>
            </p:sp>
            <p:sp>
              <p:nvSpPr>
                <p:cNvPr id="41" name="Flowchart: Magnetic Disk 40"/>
                <p:cNvSpPr/>
                <p:nvPr/>
              </p:nvSpPr>
              <p:spPr>
                <a:xfrm>
                  <a:off x="5238474" y="5125600"/>
                  <a:ext cx="1145407" cy="1229711"/>
                </a:xfrm>
                <a:prstGeom prst="flowChartMagneticDisk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 smtClean="0"/>
                    <a:t>Message Queue</a:t>
                  </a:r>
                  <a:endParaRPr lang="en-US" dirty="0"/>
                </a:p>
              </p:txBody>
            </p:sp>
            <p:sp>
              <p:nvSpPr>
                <p:cNvPr id="48" name="Lightning Bolt 47"/>
                <p:cNvSpPr/>
                <p:nvPr/>
              </p:nvSpPr>
              <p:spPr>
                <a:xfrm rot="1704839">
                  <a:off x="5518377" y="3923405"/>
                  <a:ext cx="557842" cy="994454"/>
                </a:xfrm>
                <a:prstGeom prst="lightningBol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9" name="TextBox 48"/>
                <p:cNvSpPr txBox="1"/>
                <p:nvPr/>
              </p:nvSpPr>
              <p:spPr>
                <a:xfrm rot="18351104">
                  <a:off x="6032317" y="4234059"/>
                  <a:ext cx="1046440" cy="307777"/>
                </a:xfrm>
                <a:prstGeom prst="rect">
                  <a:avLst/>
                </a:prstGeom>
                <a:noFill/>
              </p:spPr>
              <p:txBody>
                <a:bodyPr vert="horz" wrap="square" rtlCol="0">
                  <a:spAutoFit/>
                </a:bodyPr>
                <a:lstStyle/>
                <a:p>
                  <a:r>
                    <a:rPr lang="en-US" sz="1400" dirty="0" smtClean="0">
                      <a:solidFill>
                        <a:srgbClr val="00B050"/>
                      </a:solidFill>
                    </a:rPr>
                    <a:t>POP!</a:t>
                  </a:r>
                  <a:endParaRPr lang="en-US" sz="1400" dirty="0">
                    <a:solidFill>
                      <a:srgbClr val="00B050"/>
                    </a:solidFill>
                  </a:endParaRPr>
                </a:p>
              </p:txBody>
            </p:sp>
            <p:sp>
              <p:nvSpPr>
                <p:cNvPr id="50" name="TextBox 49"/>
                <p:cNvSpPr txBox="1"/>
                <p:nvPr/>
              </p:nvSpPr>
              <p:spPr>
                <a:xfrm rot="19361819">
                  <a:off x="6418605" y="5239940"/>
                  <a:ext cx="1046440" cy="307777"/>
                </a:xfrm>
                <a:prstGeom prst="rect">
                  <a:avLst/>
                </a:prstGeom>
                <a:noFill/>
              </p:spPr>
              <p:txBody>
                <a:bodyPr vert="horz" wrap="square" rtlCol="0">
                  <a:spAutoFit/>
                </a:bodyPr>
                <a:lstStyle/>
                <a:p>
                  <a:r>
                    <a:rPr lang="en-US" sz="1400" dirty="0" smtClean="0">
                      <a:solidFill>
                        <a:srgbClr val="00B050"/>
                      </a:solidFill>
                    </a:rPr>
                    <a:t>POP!</a:t>
                  </a:r>
                  <a:endParaRPr lang="en-US" sz="1400" dirty="0">
                    <a:solidFill>
                      <a:srgbClr val="00B050"/>
                    </a:solidFill>
                  </a:endParaRPr>
                </a:p>
              </p:txBody>
            </p:sp>
            <p:sp>
              <p:nvSpPr>
                <p:cNvPr id="51" name="TextBox 50"/>
                <p:cNvSpPr txBox="1"/>
                <p:nvPr/>
              </p:nvSpPr>
              <p:spPr>
                <a:xfrm rot="3118998">
                  <a:off x="4660481" y="5132507"/>
                  <a:ext cx="1046440" cy="307777"/>
                </a:xfrm>
                <a:prstGeom prst="rect">
                  <a:avLst/>
                </a:prstGeom>
                <a:noFill/>
              </p:spPr>
              <p:txBody>
                <a:bodyPr vert="horz" wrap="square" rtlCol="0">
                  <a:spAutoFit/>
                </a:bodyPr>
                <a:lstStyle/>
                <a:p>
                  <a:r>
                    <a:rPr lang="en-US" sz="1400" dirty="0" smtClean="0">
                      <a:solidFill>
                        <a:srgbClr val="00B050"/>
                      </a:solidFill>
                    </a:rPr>
                    <a:t>POP!</a:t>
                  </a:r>
                  <a:endParaRPr lang="en-US" sz="1400" dirty="0">
                    <a:solidFill>
                      <a:srgbClr val="00B050"/>
                    </a:solidFill>
                  </a:endParaRPr>
                </a:p>
              </p:txBody>
            </p:sp>
            <p:sp>
              <p:nvSpPr>
                <p:cNvPr id="53" name="TextBox 52"/>
                <p:cNvSpPr txBox="1"/>
                <p:nvPr/>
              </p:nvSpPr>
              <p:spPr>
                <a:xfrm rot="3118998">
                  <a:off x="4866069" y="4676721"/>
                  <a:ext cx="1046440" cy="307777"/>
                </a:xfrm>
                <a:prstGeom prst="rect">
                  <a:avLst/>
                </a:prstGeom>
                <a:noFill/>
              </p:spPr>
              <p:txBody>
                <a:bodyPr vert="horz" wrap="square" rtlCol="0">
                  <a:spAutoFit/>
                </a:bodyPr>
                <a:lstStyle/>
                <a:p>
                  <a:r>
                    <a:rPr lang="en-US" sz="1400" dirty="0" smtClean="0">
                      <a:solidFill>
                        <a:srgbClr val="FF0000"/>
                      </a:solidFill>
                    </a:rPr>
                    <a:t>PUSH!</a:t>
                  </a:r>
                  <a:endParaRPr lang="en-US" sz="1400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54" name="TextBox 53"/>
                <p:cNvSpPr txBox="1"/>
                <p:nvPr/>
              </p:nvSpPr>
              <p:spPr>
                <a:xfrm rot="2444735">
                  <a:off x="4620110" y="5608408"/>
                  <a:ext cx="1046440" cy="307777"/>
                </a:xfrm>
                <a:prstGeom prst="rect">
                  <a:avLst/>
                </a:prstGeom>
                <a:noFill/>
              </p:spPr>
              <p:txBody>
                <a:bodyPr vert="horz" wrap="square" rtlCol="0">
                  <a:spAutoFit/>
                </a:bodyPr>
                <a:lstStyle/>
                <a:p>
                  <a:r>
                    <a:rPr lang="en-US" sz="1400" dirty="0" smtClean="0">
                      <a:solidFill>
                        <a:srgbClr val="FF0000"/>
                      </a:solidFill>
                    </a:rPr>
                    <a:t>PUSH!</a:t>
                  </a:r>
                  <a:endParaRPr lang="en-US" sz="1400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55" name="TextBox 54"/>
                <p:cNvSpPr txBox="1"/>
                <p:nvPr/>
              </p:nvSpPr>
              <p:spPr>
                <a:xfrm rot="18478507">
                  <a:off x="6298682" y="4805199"/>
                  <a:ext cx="1046440" cy="307777"/>
                </a:xfrm>
                <a:prstGeom prst="rect">
                  <a:avLst/>
                </a:prstGeom>
                <a:noFill/>
              </p:spPr>
              <p:txBody>
                <a:bodyPr vert="horz" wrap="square" rtlCol="0">
                  <a:spAutoFit/>
                </a:bodyPr>
                <a:lstStyle/>
                <a:p>
                  <a:r>
                    <a:rPr lang="en-US" sz="1400" dirty="0" smtClean="0">
                      <a:solidFill>
                        <a:srgbClr val="FF0000"/>
                      </a:solidFill>
                    </a:rPr>
                    <a:t>PUSH!</a:t>
                  </a:r>
                  <a:endParaRPr lang="en-US" sz="1400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58" name="Flowchart: Magnetic Disk 57"/>
                <p:cNvSpPr/>
                <p:nvPr/>
              </p:nvSpPr>
              <p:spPr>
                <a:xfrm>
                  <a:off x="1640371" y="5773499"/>
                  <a:ext cx="829056" cy="774739"/>
                </a:xfrm>
                <a:prstGeom prst="flowChartMagneticDisk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 smtClean="0"/>
                    <a:t>Inputs</a:t>
                  </a:r>
                  <a:endParaRPr lang="en-US" dirty="0"/>
                </a:p>
              </p:txBody>
            </p:sp>
            <p:sp>
              <p:nvSpPr>
                <p:cNvPr id="59" name="Flowchart: Magnetic Disk 58"/>
                <p:cNvSpPr/>
                <p:nvPr/>
              </p:nvSpPr>
              <p:spPr>
                <a:xfrm>
                  <a:off x="9156630" y="5773499"/>
                  <a:ext cx="829056" cy="774739"/>
                </a:xfrm>
                <a:prstGeom prst="flowChartMagneticDisk">
                  <a:avLst/>
                </a:prstGeom>
                <a:solidFill>
                  <a:schemeClr val="accent3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 smtClean="0"/>
                    <a:t>Inputs</a:t>
                  </a:r>
                  <a:endParaRPr lang="en-US" dirty="0"/>
                </a:p>
              </p:txBody>
            </p:sp>
            <p:cxnSp>
              <p:nvCxnSpPr>
                <p:cNvPr id="61" name="Straight Arrow Connector 60"/>
                <p:cNvCxnSpPr>
                  <a:stCxn id="58" idx="1"/>
                  <a:endCxn id="3" idx="2"/>
                </p:cNvCxnSpPr>
                <p:nvPr/>
              </p:nvCxnSpPr>
              <p:spPr>
                <a:xfrm flipV="1">
                  <a:off x="2054899" y="5548054"/>
                  <a:ext cx="0" cy="22544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Straight Arrow Connector 61"/>
                <p:cNvCxnSpPr/>
                <p:nvPr/>
              </p:nvCxnSpPr>
              <p:spPr>
                <a:xfrm flipV="1">
                  <a:off x="9570485" y="5515010"/>
                  <a:ext cx="0" cy="225445"/>
                </a:xfrm>
                <a:prstGeom prst="straightConnector1">
                  <a:avLst/>
                </a:prstGeom>
                <a:ln>
                  <a:solidFill>
                    <a:schemeClr val="accent3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4" name="TextBox 63"/>
              <p:cNvSpPr txBox="1"/>
              <p:nvPr/>
            </p:nvSpPr>
            <p:spPr>
              <a:xfrm rot="2364072">
                <a:off x="3286472" y="4887764"/>
                <a:ext cx="197401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smtClean="0"/>
                  <a:t>Abbott Message m3</a:t>
                </a:r>
                <a:endParaRPr lang="en-US" sz="1200" dirty="0"/>
              </a:p>
            </p:txBody>
          </p:sp>
          <p:sp>
            <p:nvSpPr>
              <p:cNvPr id="65" name="TextBox 64"/>
              <p:cNvSpPr txBox="1"/>
              <p:nvPr/>
            </p:nvSpPr>
            <p:spPr>
              <a:xfrm rot="3119060">
                <a:off x="3444495" y="4223493"/>
                <a:ext cx="197401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smtClean="0"/>
                  <a:t>Costello Message m2</a:t>
                </a:r>
                <a:endParaRPr lang="en-US" sz="1200" dirty="0"/>
              </a:p>
            </p:txBody>
          </p:sp>
          <p:sp>
            <p:nvSpPr>
              <p:cNvPr id="66" name="TextBox 65"/>
              <p:cNvSpPr txBox="1"/>
              <p:nvPr/>
            </p:nvSpPr>
            <p:spPr>
              <a:xfrm rot="18289345">
                <a:off x="6286034" y="3162502"/>
                <a:ext cx="197401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smtClean="0"/>
                  <a:t>Abbott Message m1</a:t>
                </a:r>
                <a:endParaRPr lang="en-US" sz="1200" dirty="0"/>
              </a:p>
            </p:txBody>
          </p:sp>
          <p:sp>
            <p:nvSpPr>
              <p:cNvPr id="67" name="TextBox 66"/>
              <p:cNvSpPr txBox="1"/>
              <p:nvPr/>
            </p:nvSpPr>
            <p:spPr>
              <a:xfrm rot="18463150">
                <a:off x="6580331" y="3851196"/>
                <a:ext cx="197401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smtClean="0"/>
                  <a:t>Costello Message m2</a:t>
                </a:r>
                <a:endParaRPr lang="en-US" sz="1200" dirty="0"/>
              </a:p>
            </p:txBody>
          </p:sp>
          <p:sp>
            <p:nvSpPr>
              <p:cNvPr id="68" name="TextBox 67"/>
              <p:cNvSpPr txBox="1"/>
              <p:nvPr/>
            </p:nvSpPr>
            <p:spPr>
              <a:xfrm rot="19238324">
                <a:off x="6706809" y="4645808"/>
                <a:ext cx="197401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smtClean="0"/>
                  <a:t>Abbott Message m3</a:t>
                </a:r>
                <a:endParaRPr lang="en-US" sz="1200" dirty="0"/>
              </a:p>
            </p:txBody>
          </p:sp>
        </p:grpSp>
        <p:sp>
          <p:nvSpPr>
            <p:cNvPr id="70" name="Explosion 2 69"/>
            <p:cNvSpPr/>
            <p:nvPr/>
          </p:nvSpPr>
          <p:spPr>
            <a:xfrm rot="20498008">
              <a:off x="6476778" y="553124"/>
              <a:ext cx="1661365" cy="1333176"/>
            </a:xfrm>
            <a:prstGeom prst="irregularSeal2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Tick!</a:t>
              </a:r>
              <a:endParaRPr lang="en-US" dirty="0"/>
            </a:p>
          </p:txBody>
        </p:sp>
      </p:grpSp>
      <p:sp>
        <p:nvSpPr>
          <p:cNvPr id="4" name="Cloud Callout 3"/>
          <p:cNvSpPr/>
          <p:nvPr/>
        </p:nvSpPr>
        <p:spPr>
          <a:xfrm>
            <a:off x="3955731" y="1982153"/>
            <a:ext cx="1046961" cy="879239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Who Is On First!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340689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8777" y="1236396"/>
            <a:ext cx="5082551" cy="4924473"/>
          </a:xfrm>
        </p:spPr>
        <p:txBody>
          <a:bodyPr>
            <a:normAutofit fontScale="92500" lnSpcReduction="10000"/>
          </a:bodyPr>
          <a:lstStyle/>
          <a:p>
            <a:pPr marL="0" lvl="0" indent="0">
              <a:buSzPct val="45000"/>
              <a:buNone/>
            </a:pPr>
            <a:r>
              <a:rPr lang="en-US" sz="3900" b="1" dirty="0"/>
              <a:t>Components</a:t>
            </a:r>
            <a:endParaRPr lang="en-US" sz="2600" b="1" dirty="0"/>
          </a:p>
          <a:p>
            <a:pPr lvl="1" hangingPunct="0">
              <a:spcBef>
                <a:spcPts val="1417"/>
              </a:spcBef>
              <a:buSzPct val="75000"/>
              <a:buFont typeface="Wingdings" panose="05000000000000000000" pitchFamily="2" charset="2"/>
              <a:buChar char="Ø"/>
            </a:pPr>
            <a:r>
              <a:rPr lang="en-US" sz="2600" dirty="0">
                <a:highlight>
                  <a:scrgbClr r="0" g="0" b="0">
                    <a:alpha val="0"/>
                  </a:scrgbClr>
                </a:highlight>
              </a:rPr>
              <a:t>Main players in the simulated environment</a:t>
            </a:r>
          </a:p>
          <a:p>
            <a:pPr lvl="1" hangingPunct="0">
              <a:spcBef>
                <a:spcPts val="1417"/>
              </a:spcBef>
              <a:buSzPct val="75000"/>
              <a:buFont typeface="Wingdings" panose="05000000000000000000" pitchFamily="2" charset="2"/>
              <a:buChar char="Ø"/>
            </a:pPr>
            <a:r>
              <a:rPr lang="en-US" sz="2600" dirty="0">
                <a:highlight>
                  <a:scrgbClr r="0" g="0" b="0">
                    <a:alpha val="0"/>
                  </a:scrgbClr>
                </a:highlight>
              </a:rPr>
              <a:t>Contains the primary logic and functionality in the simulation</a:t>
            </a:r>
          </a:p>
          <a:p>
            <a:pPr lvl="1" hangingPunct="0">
              <a:spcBef>
                <a:spcPts val="1417"/>
              </a:spcBef>
              <a:buSzPct val="75000"/>
              <a:buFont typeface="Wingdings" panose="05000000000000000000" pitchFamily="2" charset="2"/>
              <a:buChar char="Ø"/>
            </a:pPr>
            <a:r>
              <a:rPr lang="en-US" sz="2600" dirty="0">
                <a:highlight>
                  <a:scrgbClr r="0" g="0" b="0">
                    <a:alpha val="0"/>
                  </a:scrgbClr>
                </a:highlight>
              </a:rPr>
              <a:t>Sends and receives messages from other components</a:t>
            </a:r>
          </a:p>
          <a:p>
            <a:pPr lvl="1" hangingPunct="0">
              <a:spcBef>
                <a:spcPts val="1417"/>
              </a:spcBef>
              <a:buSzPct val="75000"/>
              <a:buFont typeface="Wingdings" panose="05000000000000000000" pitchFamily="2" charset="2"/>
              <a:buChar char="Ø"/>
            </a:pPr>
            <a:r>
              <a:rPr lang="en-US" sz="2600" dirty="0">
                <a:highlight>
                  <a:scrgbClr r="0" g="0" b="0">
                    <a:alpha val="0"/>
                  </a:scrgbClr>
                </a:highlight>
              </a:rPr>
              <a:t>Chooses the messages it wants to receive through subscription to topics</a:t>
            </a:r>
          </a:p>
          <a:p>
            <a:endParaRPr lang="en-US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208777" y="168166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 smtClean="0"/>
              <a:t>What’s A Sim Made Of?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4294967295"/>
          </p:nvPr>
        </p:nvSpPr>
        <p:spPr>
          <a:xfrm>
            <a:off x="6003634" y="6437868"/>
            <a:ext cx="184731" cy="369332"/>
          </a:xfrm>
        </p:spPr>
        <p:txBody>
          <a:bodyPr/>
          <a:lstStyle/>
          <a:p>
            <a:endParaRPr lang="en-US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1328" y="1379272"/>
            <a:ext cx="6688862" cy="426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550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8777" y="1236396"/>
            <a:ext cx="5082551" cy="4924473"/>
          </a:xfrm>
        </p:spPr>
        <p:txBody>
          <a:bodyPr>
            <a:normAutofit/>
          </a:bodyPr>
          <a:lstStyle/>
          <a:p>
            <a:pPr marL="0" lvl="0" indent="0">
              <a:buSzPct val="45000"/>
              <a:buNone/>
            </a:pPr>
            <a:r>
              <a:rPr lang="en-US" sz="3900" b="1" dirty="0" smtClean="0"/>
              <a:t>Messages</a:t>
            </a:r>
            <a:endParaRPr lang="en-US" sz="2600" b="1" dirty="0"/>
          </a:p>
          <a:p>
            <a:pPr lvl="1" hangingPunct="0">
              <a:spcBef>
                <a:spcPts val="1417"/>
              </a:spcBef>
              <a:buSzPct val="75000"/>
              <a:buFont typeface="Wingdings" panose="05000000000000000000" pitchFamily="2" charset="2"/>
              <a:buChar char="Ø"/>
            </a:pPr>
            <a:r>
              <a:rPr lang="en-US" sz="2600" dirty="0">
                <a:highlight>
                  <a:scrgbClr r="0" g="0" b="0">
                    <a:alpha val="0"/>
                  </a:scrgbClr>
                </a:highlight>
              </a:rPr>
              <a:t>Primary communication between components</a:t>
            </a:r>
          </a:p>
          <a:p>
            <a:pPr lvl="1" hangingPunct="0">
              <a:spcBef>
                <a:spcPts val="1417"/>
              </a:spcBef>
              <a:buSzPct val="75000"/>
              <a:buFont typeface="Wingdings" panose="05000000000000000000" pitchFamily="2" charset="2"/>
              <a:buChar char="Ø"/>
            </a:pPr>
            <a:r>
              <a:rPr lang="en-US" sz="2600" dirty="0">
                <a:highlight>
                  <a:scrgbClr r="0" g="0" b="0">
                    <a:alpha val="0"/>
                  </a:scrgbClr>
                </a:highlight>
              </a:rPr>
              <a:t>Contains a payload, a send time and a topic</a:t>
            </a:r>
          </a:p>
          <a:p>
            <a:pPr lvl="1" hangingPunct="0">
              <a:spcBef>
                <a:spcPts val="1417"/>
              </a:spcBef>
              <a:buSzPct val="75000"/>
              <a:buFont typeface="Wingdings" panose="05000000000000000000" pitchFamily="2" charset="2"/>
              <a:buChar char="Ø"/>
            </a:pPr>
            <a:endParaRPr lang="en-US" sz="2600" dirty="0">
              <a:highlight>
                <a:scrgbClr r="0" g="0" b="0">
                  <a:alpha val="0"/>
                </a:scrgbClr>
              </a:highlight>
            </a:endParaRPr>
          </a:p>
          <a:p>
            <a:endParaRPr lang="en-US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208777" y="168166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 smtClean="0"/>
              <a:t>What’s A Sim Made Of?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4294967295"/>
          </p:nvPr>
        </p:nvSpPr>
        <p:spPr>
          <a:xfrm>
            <a:off x="6003634" y="6437868"/>
            <a:ext cx="184731" cy="369332"/>
          </a:xfrm>
        </p:spPr>
        <p:txBody>
          <a:bodyPr/>
          <a:lstStyle/>
          <a:p>
            <a:endParaRPr lang="en-US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1328" y="1743233"/>
            <a:ext cx="6559296" cy="3307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983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8777" y="1236396"/>
            <a:ext cx="5082551" cy="4924473"/>
          </a:xfrm>
        </p:spPr>
        <p:txBody>
          <a:bodyPr>
            <a:normAutofit/>
          </a:bodyPr>
          <a:lstStyle/>
          <a:p>
            <a:pPr marL="0" lvl="0" indent="0">
              <a:buSzPct val="45000"/>
              <a:buNone/>
            </a:pPr>
            <a:r>
              <a:rPr lang="en-US" sz="3900" b="1" dirty="0" smtClean="0"/>
              <a:t>Message Queue</a:t>
            </a:r>
            <a:endParaRPr lang="en-US" sz="2600" b="1" dirty="0"/>
          </a:p>
          <a:p>
            <a:pPr lvl="1" hangingPunct="0">
              <a:spcBef>
                <a:spcPts val="1417"/>
              </a:spcBef>
              <a:buSzPct val="75000"/>
              <a:buFont typeface="Wingdings" panose="05000000000000000000" pitchFamily="2" charset="2"/>
              <a:buChar char="Ø"/>
            </a:pPr>
            <a:r>
              <a:rPr lang="en-US" sz="2600" dirty="0" smtClean="0">
                <a:highlight>
                  <a:scrgbClr r="0" g="0" b="0">
                    <a:alpha val="0"/>
                  </a:scrgbClr>
                </a:highlight>
              </a:rPr>
              <a:t>A list </a:t>
            </a:r>
            <a:r>
              <a:rPr lang="en-US" sz="2600" dirty="0">
                <a:highlight>
                  <a:scrgbClr r="0" g="0" b="0">
                    <a:alpha val="0"/>
                  </a:scrgbClr>
                </a:highlight>
              </a:rPr>
              <a:t>of messages from the components to each other that grows and shrinks as the simulation moves along in time</a:t>
            </a:r>
          </a:p>
          <a:p>
            <a:pPr lvl="1" hangingPunct="0">
              <a:spcBef>
                <a:spcPts val="1417"/>
              </a:spcBef>
              <a:buSzPct val="75000"/>
              <a:buFont typeface="Wingdings" panose="05000000000000000000" pitchFamily="2" charset="2"/>
              <a:buChar char="Ø"/>
            </a:pPr>
            <a:endParaRPr lang="en-US" sz="2600" dirty="0">
              <a:highlight>
                <a:scrgbClr r="0" g="0" b="0">
                  <a:alpha val="0"/>
                </a:scrgbClr>
              </a:highlight>
            </a:endParaRPr>
          </a:p>
          <a:p>
            <a:pPr lvl="1" hangingPunct="0">
              <a:spcBef>
                <a:spcPts val="1417"/>
              </a:spcBef>
              <a:buSzPct val="75000"/>
              <a:buFont typeface="Wingdings" panose="05000000000000000000" pitchFamily="2" charset="2"/>
              <a:buChar char="Ø"/>
            </a:pPr>
            <a:endParaRPr lang="en-US" sz="2600" dirty="0">
              <a:highlight>
                <a:scrgbClr r="0" g="0" b="0">
                  <a:alpha val="0"/>
                </a:scrgbClr>
              </a:highlight>
            </a:endParaRPr>
          </a:p>
          <a:p>
            <a:endParaRPr lang="en-US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208777" y="168166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 smtClean="0"/>
              <a:t>What’s A Sim Made Of?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4294967295"/>
          </p:nvPr>
        </p:nvSpPr>
        <p:spPr>
          <a:xfrm>
            <a:off x="6003634" y="6437868"/>
            <a:ext cx="184731" cy="369332"/>
          </a:xfrm>
        </p:spPr>
        <p:txBody>
          <a:bodyPr/>
          <a:lstStyle/>
          <a:p>
            <a:endParaRPr lang="en-US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8148" y="2343578"/>
            <a:ext cx="6330301" cy="3191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282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8777" y="1236396"/>
            <a:ext cx="5082551" cy="4924473"/>
          </a:xfrm>
        </p:spPr>
        <p:txBody>
          <a:bodyPr>
            <a:normAutofit fontScale="92500" lnSpcReduction="10000"/>
          </a:bodyPr>
          <a:lstStyle/>
          <a:p>
            <a:pPr marL="0" lvl="0" indent="0">
              <a:buSzPct val="45000"/>
              <a:buNone/>
            </a:pPr>
            <a:r>
              <a:rPr lang="en-US" sz="3900" b="1" dirty="0" smtClean="0"/>
              <a:t>Engine</a:t>
            </a:r>
            <a:endParaRPr lang="en-US" sz="2600" b="1" dirty="0"/>
          </a:p>
          <a:p>
            <a:pPr lvl="1" hangingPunct="0">
              <a:spcBef>
                <a:spcPts val="1417"/>
              </a:spcBef>
              <a:buSzPct val="75000"/>
              <a:buFont typeface="Wingdings" panose="05000000000000000000" pitchFamily="2" charset="2"/>
              <a:buChar char="Ø"/>
            </a:pPr>
            <a:r>
              <a:rPr lang="en-US" sz="2600" dirty="0">
                <a:highlight>
                  <a:scrgbClr r="0" g="0" b="0">
                    <a:alpha val="0"/>
                  </a:scrgbClr>
                </a:highlight>
              </a:rPr>
              <a:t>Registers and maintains a list of participating components</a:t>
            </a:r>
          </a:p>
          <a:p>
            <a:pPr lvl="1" hangingPunct="0">
              <a:spcBef>
                <a:spcPts val="1417"/>
              </a:spcBef>
              <a:buSzPct val="75000"/>
              <a:buFont typeface="Wingdings" panose="05000000000000000000" pitchFamily="2" charset="2"/>
              <a:buChar char="Ø"/>
            </a:pPr>
            <a:r>
              <a:rPr lang="en-US" sz="2600" dirty="0">
                <a:highlight>
                  <a:scrgbClr r="0" g="0" b="0">
                    <a:alpha val="0"/>
                  </a:scrgbClr>
                </a:highlight>
              </a:rPr>
              <a:t>Registers component subscription desires</a:t>
            </a:r>
          </a:p>
          <a:p>
            <a:pPr lvl="1" hangingPunct="0">
              <a:spcBef>
                <a:spcPts val="1417"/>
              </a:spcBef>
              <a:buSzPct val="75000"/>
              <a:buFont typeface="Wingdings" panose="05000000000000000000" pitchFamily="2" charset="2"/>
              <a:buChar char="Ø"/>
            </a:pPr>
            <a:r>
              <a:rPr lang="en-US" sz="2600" dirty="0">
                <a:highlight>
                  <a:scrgbClr r="0" g="0" b="0">
                    <a:alpha val="0"/>
                  </a:scrgbClr>
                </a:highlight>
              </a:rPr>
              <a:t>Pops messages off the message queue and relays messages between components based on subscriptions</a:t>
            </a:r>
          </a:p>
          <a:p>
            <a:pPr lvl="1" hangingPunct="0">
              <a:spcBef>
                <a:spcPts val="1417"/>
              </a:spcBef>
              <a:buSzPct val="75000"/>
              <a:buFont typeface="Wingdings" panose="05000000000000000000" pitchFamily="2" charset="2"/>
              <a:buChar char="Ø"/>
            </a:pPr>
            <a:r>
              <a:rPr lang="en-US" sz="2600" dirty="0">
                <a:highlight>
                  <a:scrgbClr r="0" g="0" b="0">
                    <a:alpha val="0"/>
                  </a:scrgbClr>
                </a:highlight>
              </a:rPr>
              <a:t>Regulates the timing and flow of messages</a:t>
            </a:r>
          </a:p>
          <a:p>
            <a:pPr lvl="1" hangingPunct="0">
              <a:spcBef>
                <a:spcPts val="1417"/>
              </a:spcBef>
              <a:buSzPct val="75000"/>
              <a:buFont typeface="Wingdings" panose="05000000000000000000" pitchFamily="2" charset="2"/>
              <a:buChar char="Ø"/>
            </a:pPr>
            <a:endParaRPr lang="en-US" sz="2600" dirty="0">
              <a:highlight>
                <a:scrgbClr r="0" g="0" b="0">
                  <a:alpha val="0"/>
                </a:scrgbClr>
              </a:highlight>
            </a:endParaRPr>
          </a:p>
          <a:p>
            <a:pPr lvl="1" hangingPunct="0">
              <a:spcBef>
                <a:spcPts val="1417"/>
              </a:spcBef>
              <a:buSzPct val="75000"/>
              <a:buFont typeface="Wingdings" panose="05000000000000000000" pitchFamily="2" charset="2"/>
              <a:buChar char="Ø"/>
            </a:pPr>
            <a:endParaRPr lang="en-US" sz="2600" dirty="0">
              <a:highlight>
                <a:scrgbClr r="0" g="0" b="0">
                  <a:alpha val="0"/>
                </a:scrgbClr>
              </a:highlight>
            </a:endParaRPr>
          </a:p>
          <a:p>
            <a:endParaRPr lang="en-US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208777" y="168166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 smtClean="0"/>
              <a:t>What’s A Sim Made Of?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4294967295"/>
          </p:nvPr>
        </p:nvSpPr>
        <p:spPr>
          <a:xfrm>
            <a:off x="6003634" y="6437868"/>
            <a:ext cx="184731" cy="369332"/>
          </a:xfrm>
        </p:spPr>
        <p:txBody>
          <a:bodyPr/>
          <a:lstStyle/>
          <a:p>
            <a:endParaRPr lang="en-US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8662" y="1629156"/>
            <a:ext cx="6885118" cy="4391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536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8777" y="1004748"/>
            <a:ext cx="9898391" cy="4924473"/>
          </a:xfrm>
        </p:spPr>
        <p:txBody>
          <a:bodyPr>
            <a:normAutofit/>
          </a:bodyPr>
          <a:lstStyle/>
          <a:p>
            <a:pPr marL="0" lvl="0" indent="0">
              <a:buSzPct val="45000"/>
              <a:buNone/>
            </a:pPr>
            <a:r>
              <a:rPr lang="en-US" sz="3900" b="1" dirty="0" smtClean="0"/>
              <a:t>Engine Execution Loop</a:t>
            </a:r>
            <a:endParaRPr lang="en-US" sz="2600" b="1" dirty="0"/>
          </a:p>
          <a:p>
            <a:pPr marL="457200" lvl="1" indent="0" hangingPunct="0">
              <a:spcBef>
                <a:spcPts val="1417"/>
              </a:spcBef>
              <a:buSzPct val="75000"/>
              <a:buNone/>
            </a:pPr>
            <a:endParaRPr lang="en-US" sz="2600" dirty="0">
              <a:highlight>
                <a:scrgbClr r="0" g="0" b="0">
                  <a:alpha val="0"/>
                </a:scrgbClr>
              </a:highlight>
            </a:endParaRPr>
          </a:p>
          <a:p>
            <a:pPr lvl="1" hangingPunct="0">
              <a:spcBef>
                <a:spcPts val="1417"/>
              </a:spcBef>
              <a:buSzPct val="75000"/>
              <a:buFont typeface="Wingdings" panose="05000000000000000000" pitchFamily="2" charset="2"/>
              <a:buChar char="Ø"/>
            </a:pPr>
            <a:endParaRPr lang="en-US" sz="2600" dirty="0">
              <a:highlight>
                <a:scrgbClr r="0" g="0" b="0">
                  <a:alpha val="0"/>
                </a:scrgbClr>
              </a:highlight>
            </a:endParaRPr>
          </a:p>
          <a:p>
            <a:pPr lvl="1" hangingPunct="0">
              <a:spcBef>
                <a:spcPts val="1417"/>
              </a:spcBef>
              <a:buSzPct val="75000"/>
              <a:buFont typeface="Wingdings" panose="05000000000000000000" pitchFamily="2" charset="2"/>
              <a:buChar char="Ø"/>
            </a:pPr>
            <a:endParaRPr lang="en-US" sz="2600" dirty="0">
              <a:highlight>
                <a:scrgbClr r="0" g="0" b="0">
                  <a:alpha val="0"/>
                </a:scrgbClr>
              </a:highlight>
            </a:endParaRPr>
          </a:p>
          <a:p>
            <a:endParaRPr lang="en-US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208777" y="168166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 smtClean="0"/>
              <a:t>What’s A Sim Made Of?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4294967295"/>
          </p:nvPr>
        </p:nvSpPr>
        <p:spPr>
          <a:xfrm>
            <a:off x="6003634" y="6437868"/>
            <a:ext cx="184731" cy="369332"/>
          </a:xfrm>
        </p:spPr>
        <p:txBody>
          <a:bodyPr/>
          <a:lstStyle/>
          <a:p>
            <a:endParaRPr lang="en-US" smtClean="0"/>
          </a:p>
        </p:txBody>
      </p:sp>
      <p:sp>
        <p:nvSpPr>
          <p:cNvPr id="4" name="Flowchart: Process 3"/>
          <p:cNvSpPr/>
          <p:nvPr/>
        </p:nvSpPr>
        <p:spPr>
          <a:xfrm>
            <a:off x="5736911" y="1813485"/>
            <a:ext cx="1865376" cy="1024128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Check Message Queue</a:t>
            </a:r>
            <a:endParaRPr lang="en-US" dirty="0"/>
          </a:p>
        </p:txBody>
      </p:sp>
      <p:cxnSp>
        <p:nvCxnSpPr>
          <p:cNvPr id="8" name="Straight Arrow Connector 7"/>
          <p:cNvCxnSpPr>
            <a:stCxn id="4" idx="2"/>
          </p:cNvCxnSpPr>
          <p:nvPr/>
        </p:nvCxnSpPr>
        <p:spPr>
          <a:xfrm>
            <a:off x="6669599" y="2837613"/>
            <a:ext cx="0" cy="490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lowchart: Decision 9"/>
          <p:cNvSpPr/>
          <p:nvPr/>
        </p:nvSpPr>
        <p:spPr>
          <a:xfrm>
            <a:off x="6038200" y="3346260"/>
            <a:ext cx="1262797" cy="877824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/>
              <a:t>Empty?</a:t>
            </a:r>
            <a:endParaRPr lang="en-US" sz="1100" dirty="0"/>
          </a:p>
        </p:txBody>
      </p:sp>
      <p:cxnSp>
        <p:nvCxnSpPr>
          <p:cNvPr id="12" name="Straight Arrow Connector 11"/>
          <p:cNvCxnSpPr>
            <a:stCxn id="10" idx="3"/>
          </p:cNvCxnSpPr>
          <p:nvPr/>
        </p:nvCxnSpPr>
        <p:spPr>
          <a:xfrm>
            <a:off x="7300997" y="3785172"/>
            <a:ext cx="121961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602287" y="3466985"/>
            <a:ext cx="858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Yes</a:t>
            </a:r>
            <a:endParaRPr lang="en-US" dirty="0"/>
          </a:p>
        </p:txBody>
      </p:sp>
      <p:sp>
        <p:nvSpPr>
          <p:cNvPr id="14" name="Flowchart: Terminator 13"/>
          <p:cNvSpPr/>
          <p:nvPr/>
        </p:nvSpPr>
        <p:spPr>
          <a:xfrm>
            <a:off x="8520616" y="3498955"/>
            <a:ext cx="1262797" cy="572433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Exit!</a:t>
            </a:r>
            <a:endParaRPr lang="en-US" dirty="0"/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4818581" y="3785099"/>
            <a:ext cx="1219619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239307" y="3484729"/>
            <a:ext cx="858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No</a:t>
            </a:r>
            <a:endParaRPr lang="en-US" dirty="0"/>
          </a:p>
        </p:txBody>
      </p:sp>
      <p:sp>
        <p:nvSpPr>
          <p:cNvPr id="17" name="Flowchart: Process 16"/>
          <p:cNvSpPr/>
          <p:nvPr/>
        </p:nvSpPr>
        <p:spPr>
          <a:xfrm>
            <a:off x="3555784" y="3466912"/>
            <a:ext cx="1262797" cy="757172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Pop Message</a:t>
            </a:r>
            <a:endParaRPr lang="en-US" dirty="0"/>
          </a:p>
        </p:txBody>
      </p:sp>
      <p:cxnSp>
        <p:nvCxnSpPr>
          <p:cNvPr id="19" name="Straight Arrow Connector 18"/>
          <p:cNvCxnSpPr>
            <a:stCxn id="17" idx="2"/>
          </p:cNvCxnSpPr>
          <p:nvPr/>
        </p:nvCxnSpPr>
        <p:spPr>
          <a:xfrm flipH="1">
            <a:off x="4187182" y="4224084"/>
            <a:ext cx="1" cy="6527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lowchart: Decision 19"/>
          <p:cNvSpPr/>
          <p:nvPr/>
        </p:nvSpPr>
        <p:spPr>
          <a:xfrm>
            <a:off x="3193081" y="4876800"/>
            <a:ext cx="1988202" cy="1052421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Is </a:t>
            </a:r>
            <a:r>
              <a:rPr lang="en-US" sz="1200" dirty="0" err="1" smtClean="0"/>
              <a:t>sendTime</a:t>
            </a:r>
            <a:r>
              <a:rPr lang="en-US" sz="1200" dirty="0" smtClean="0"/>
              <a:t> In </a:t>
            </a:r>
            <a:r>
              <a:rPr lang="en-US" sz="1200" dirty="0"/>
              <a:t>T</a:t>
            </a:r>
            <a:r>
              <a:rPr lang="en-US" sz="1200" dirty="0" smtClean="0"/>
              <a:t>he </a:t>
            </a:r>
            <a:r>
              <a:rPr lang="en-US" sz="1200" dirty="0"/>
              <a:t>F</a:t>
            </a:r>
            <a:r>
              <a:rPr lang="en-US" sz="1200" dirty="0" smtClean="0"/>
              <a:t>uture?</a:t>
            </a:r>
            <a:endParaRPr lang="en-US" sz="1200" dirty="0"/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5119871" y="5400105"/>
            <a:ext cx="121961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421161" y="5081918"/>
            <a:ext cx="858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Yes</a:t>
            </a:r>
            <a:endParaRPr lang="en-US" dirty="0"/>
          </a:p>
        </p:txBody>
      </p:sp>
      <p:sp>
        <p:nvSpPr>
          <p:cNvPr id="24" name="Flowchart: Process 23"/>
          <p:cNvSpPr/>
          <p:nvPr/>
        </p:nvSpPr>
        <p:spPr>
          <a:xfrm>
            <a:off x="6358952" y="5056074"/>
            <a:ext cx="1262797" cy="757172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Sleep</a:t>
            </a:r>
            <a:endParaRPr lang="en-US" dirty="0"/>
          </a:p>
        </p:txBody>
      </p:sp>
      <p:cxnSp>
        <p:nvCxnSpPr>
          <p:cNvPr id="25" name="Straight Arrow Connector 24"/>
          <p:cNvCxnSpPr/>
          <p:nvPr/>
        </p:nvCxnSpPr>
        <p:spPr>
          <a:xfrm>
            <a:off x="1973462" y="5400105"/>
            <a:ext cx="1219619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394188" y="5099735"/>
            <a:ext cx="858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No</a:t>
            </a:r>
            <a:endParaRPr lang="en-US" dirty="0"/>
          </a:p>
        </p:txBody>
      </p:sp>
      <p:sp>
        <p:nvSpPr>
          <p:cNvPr id="27" name="Flowchart: Process 26"/>
          <p:cNvSpPr/>
          <p:nvPr/>
        </p:nvSpPr>
        <p:spPr>
          <a:xfrm>
            <a:off x="710051" y="5040227"/>
            <a:ext cx="1262797" cy="757172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Route Message</a:t>
            </a:r>
            <a:endParaRPr lang="en-US" dirty="0"/>
          </a:p>
        </p:txBody>
      </p:sp>
      <p:cxnSp>
        <p:nvCxnSpPr>
          <p:cNvPr id="29" name="Elbow Connector 28"/>
          <p:cNvCxnSpPr>
            <a:stCxn id="24" idx="2"/>
            <a:endCxn id="20" idx="2"/>
          </p:cNvCxnSpPr>
          <p:nvPr/>
        </p:nvCxnSpPr>
        <p:spPr>
          <a:xfrm rot="5400000">
            <a:off x="5530780" y="4469649"/>
            <a:ext cx="115975" cy="2803169"/>
          </a:xfrm>
          <a:prstGeom prst="bentConnector3">
            <a:avLst>
              <a:gd name="adj1" fmla="val 29711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30"/>
          <p:cNvCxnSpPr>
            <a:stCxn id="27" idx="0"/>
            <a:endCxn id="4" idx="1"/>
          </p:cNvCxnSpPr>
          <p:nvPr/>
        </p:nvCxnSpPr>
        <p:spPr>
          <a:xfrm rot="5400000" flipH="1" flipV="1">
            <a:off x="2181841" y="1485158"/>
            <a:ext cx="2714678" cy="439546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0232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8777" y="1236396"/>
            <a:ext cx="5082551" cy="4924473"/>
          </a:xfrm>
        </p:spPr>
        <p:txBody>
          <a:bodyPr>
            <a:normAutofit/>
          </a:bodyPr>
          <a:lstStyle/>
          <a:p>
            <a:pPr marL="0" lvl="0" indent="0">
              <a:buSzPct val="45000"/>
              <a:buNone/>
            </a:pPr>
            <a:r>
              <a:rPr lang="en-US" sz="3900" b="1" dirty="0" smtClean="0"/>
              <a:t>Inputs</a:t>
            </a:r>
            <a:endParaRPr lang="en-US" sz="2600" b="1" dirty="0"/>
          </a:p>
          <a:p>
            <a:pPr lvl="1" hangingPunct="0">
              <a:spcBef>
                <a:spcPts val="1417"/>
              </a:spcBef>
              <a:buSzPct val="75000"/>
              <a:buFont typeface="Wingdings" panose="05000000000000000000" pitchFamily="2" charset="2"/>
              <a:buChar char="Ø"/>
            </a:pPr>
            <a:r>
              <a:rPr lang="en-US" sz="2600" dirty="0">
                <a:highlight>
                  <a:scrgbClr r="0" g="0" b="0">
                    <a:alpha val="0"/>
                  </a:scrgbClr>
                </a:highlight>
              </a:rPr>
              <a:t>Input parameters that dictate the behavior of the simulation and alleviate the need to rebuild to change behavior</a:t>
            </a:r>
          </a:p>
          <a:p>
            <a:pPr lvl="1" hangingPunct="0">
              <a:spcBef>
                <a:spcPts val="1417"/>
              </a:spcBef>
              <a:buSzPct val="75000"/>
              <a:buFont typeface="Wingdings" panose="05000000000000000000" pitchFamily="2" charset="2"/>
              <a:buChar char="Ø"/>
            </a:pPr>
            <a:endParaRPr lang="en-US" sz="2600" dirty="0">
              <a:highlight>
                <a:scrgbClr r="0" g="0" b="0">
                  <a:alpha val="0"/>
                </a:scrgbClr>
              </a:highlight>
            </a:endParaRPr>
          </a:p>
          <a:p>
            <a:pPr lvl="1" hangingPunct="0">
              <a:spcBef>
                <a:spcPts val="1417"/>
              </a:spcBef>
              <a:buSzPct val="75000"/>
              <a:buFont typeface="Wingdings" panose="05000000000000000000" pitchFamily="2" charset="2"/>
              <a:buChar char="Ø"/>
            </a:pPr>
            <a:endParaRPr lang="en-US" sz="2600" dirty="0">
              <a:highlight>
                <a:scrgbClr r="0" g="0" b="0">
                  <a:alpha val="0"/>
                </a:scrgbClr>
              </a:highlight>
            </a:endParaRPr>
          </a:p>
          <a:p>
            <a:endParaRPr lang="en-US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208777" y="168166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 smtClean="0"/>
              <a:t>What’s A Sim Made Of?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4294967295"/>
          </p:nvPr>
        </p:nvSpPr>
        <p:spPr>
          <a:xfrm>
            <a:off x="6003634" y="6437868"/>
            <a:ext cx="184731" cy="369332"/>
          </a:xfrm>
        </p:spPr>
        <p:txBody>
          <a:bodyPr/>
          <a:lstStyle/>
          <a:p>
            <a:endParaRPr lang="en-US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9673" y="2196409"/>
            <a:ext cx="6460071" cy="3257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641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8777" y="1236396"/>
            <a:ext cx="5082551" cy="4924473"/>
          </a:xfrm>
        </p:spPr>
        <p:txBody>
          <a:bodyPr>
            <a:normAutofit lnSpcReduction="10000"/>
          </a:bodyPr>
          <a:lstStyle/>
          <a:p>
            <a:pPr marL="0" lvl="0" indent="0">
              <a:buSzPct val="45000"/>
              <a:buNone/>
            </a:pPr>
            <a:r>
              <a:rPr lang="en-US" sz="3900" b="1" dirty="0" smtClean="0"/>
              <a:t>Main Program</a:t>
            </a:r>
            <a:endParaRPr lang="en-US" sz="2600" b="1" dirty="0"/>
          </a:p>
          <a:p>
            <a:pPr lvl="1" hangingPunct="0">
              <a:spcBef>
                <a:spcPts val="1417"/>
              </a:spcBef>
              <a:buSzPct val="75000"/>
              <a:buFont typeface="Wingdings" panose="05000000000000000000" pitchFamily="2" charset="2"/>
              <a:buChar char="Ø"/>
            </a:pPr>
            <a:r>
              <a:rPr lang="en-US" sz="2600" dirty="0">
                <a:highlight>
                  <a:scrgbClr r="0" g="0" b="0">
                    <a:alpha val="0"/>
                  </a:scrgbClr>
                </a:highlight>
              </a:rPr>
              <a:t>The task list for the simulation</a:t>
            </a:r>
          </a:p>
          <a:p>
            <a:pPr lvl="2" hangingPunct="0">
              <a:spcBef>
                <a:spcPts val="1417"/>
              </a:spcBef>
              <a:buSzPct val="75000"/>
              <a:buFont typeface="Wingdings" panose="05000000000000000000" pitchFamily="2" charset="2"/>
              <a:buChar char="Ø"/>
            </a:pPr>
            <a:r>
              <a:rPr lang="en-US" sz="2400" dirty="0">
                <a:highlight>
                  <a:scrgbClr r="0" g="0" b="0">
                    <a:alpha val="0"/>
                  </a:scrgbClr>
                </a:highlight>
              </a:rPr>
              <a:t>Instantiates the components</a:t>
            </a:r>
          </a:p>
          <a:p>
            <a:pPr lvl="2" hangingPunct="0">
              <a:spcBef>
                <a:spcPts val="1417"/>
              </a:spcBef>
              <a:buSzPct val="75000"/>
              <a:buFont typeface="Wingdings" panose="05000000000000000000" pitchFamily="2" charset="2"/>
              <a:buChar char="Ø"/>
            </a:pPr>
            <a:r>
              <a:rPr lang="en-US" sz="2400" dirty="0">
                <a:highlight>
                  <a:scrgbClr r="0" g="0" b="0">
                    <a:alpha val="0"/>
                  </a:scrgbClr>
                </a:highlight>
              </a:rPr>
              <a:t>Instantiates the engine</a:t>
            </a:r>
          </a:p>
          <a:p>
            <a:pPr lvl="2" hangingPunct="0">
              <a:spcBef>
                <a:spcPts val="1417"/>
              </a:spcBef>
              <a:buSzPct val="75000"/>
              <a:buFont typeface="Wingdings" panose="05000000000000000000" pitchFamily="2" charset="2"/>
              <a:buChar char="Ø"/>
            </a:pPr>
            <a:r>
              <a:rPr lang="en-US" sz="2400" dirty="0">
                <a:highlight>
                  <a:scrgbClr r="0" g="0" b="0">
                    <a:alpha val="0"/>
                  </a:scrgbClr>
                </a:highlight>
              </a:rPr>
              <a:t>Executes the main loop of message passing</a:t>
            </a:r>
          </a:p>
          <a:p>
            <a:pPr lvl="2" hangingPunct="0">
              <a:spcBef>
                <a:spcPts val="1417"/>
              </a:spcBef>
              <a:buSzPct val="75000"/>
              <a:buFont typeface="Wingdings" panose="05000000000000000000" pitchFamily="2" charset="2"/>
              <a:buChar char="Ø"/>
            </a:pPr>
            <a:r>
              <a:rPr lang="en-US" sz="2400" dirty="0">
                <a:highlight>
                  <a:scrgbClr r="0" g="0" b="0">
                    <a:alpha val="0"/>
                  </a:scrgbClr>
                </a:highlight>
              </a:rPr>
              <a:t>Exits when the message queue is empty or upon error</a:t>
            </a:r>
          </a:p>
          <a:p>
            <a:pPr lvl="1" hangingPunct="0">
              <a:spcBef>
                <a:spcPts val="1417"/>
              </a:spcBef>
              <a:buSzPct val="75000"/>
              <a:buFont typeface="Wingdings" panose="05000000000000000000" pitchFamily="2" charset="2"/>
              <a:buChar char="Ø"/>
            </a:pPr>
            <a:endParaRPr lang="en-US" sz="2600" dirty="0">
              <a:highlight>
                <a:scrgbClr r="0" g="0" b="0">
                  <a:alpha val="0"/>
                </a:scrgbClr>
              </a:highlight>
            </a:endParaRPr>
          </a:p>
          <a:p>
            <a:pPr lvl="1" hangingPunct="0">
              <a:spcBef>
                <a:spcPts val="1417"/>
              </a:spcBef>
              <a:buSzPct val="75000"/>
              <a:buFont typeface="Wingdings" panose="05000000000000000000" pitchFamily="2" charset="2"/>
              <a:buChar char="Ø"/>
            </a:pPr>
            <a:endParaRPr lang="en-US" sz="2600" dirty="0">
              <a:highlight>
                <a:scrgbClr r="0" g="0" b="0">
                  <a:alpha val="0"/>
                </a:scrgbClr>
              </a:highlight>
            </a:endParaRPr>
          </a:p>
          <a:p>
            <a:endParaRPr lang="en-US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208777" y="168166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 smtClean="0"/>
              <a:t>What’s A Sim Made Of?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4294967295"/>
          </p:nvPr>
        </p:nvSpPr>
        <p:spPr>
          <a:xfrm>
            <a:off x="6003634" y="6437868"/>
            <a:ext cx="184731" cy="369332"/>
          </a:xfrm>
        </p:spPr>
        <p:txBody>
          <a:bodyPr/>
          <a:lstStyle/>
          <a:p>
            <a:endParaRPr lang="en-US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295" y="1584960"/>
            <a:ext cx="6785519" cy="3838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740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08777" y="168166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 smtClean="0"/>
              <a:t>Introducing </a:t>
            </a:r>
            <a:r>
              <a:rPr lang="en-US" dirty="0" err="1" smtClean="0"/>
              <a:t>WOFSim</a:t>
            </a:r>
            <a:r>
              <a:rPr lang="en-US" dirty="0" smtClean="0"/>
              <a:t>!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4294967295"/>
          </p:nvPr>
        </p:nvSpPr>
        <p:spPr>
          <a:xfrm>
            <a:off x="6003634" y="6437868"/>
            <a:ext cx="184731" cy="369332"/>
          </a:xfrm>
        </p:spPr>
        <p:txBody>
          <a:bodyPr/>
          <a:lstStyle/>
          <a:p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555158" y="1028096"/>
            <a:ext cx="8596668" cy="3880773"/>
          </a:xfrm>
        </p:spPr>
        <p:txBody>
          <a:bodyPr/>
          <a:lstStyle/>
          <a:p>
            <a:pPr marL="0" indent="0" algn="ctr">
              <a:buNone/>
            </a:pPr>
            <a:r>
              <a:rPr lang="en-US" sz="3200" dirty="0"/>
              <a:t>A </a:t>
            </a:r>
            <a:r>
              <a:rPr lang="en-US" sz="3200" dirty="0" smtClean="0"/>
              <a:t>simulation </a:t>
            </a:r>
            <a:r>
              <a:rPr lang="en-US" sz="3200" dirty="0"/>
              <a:t>representing the legendary comedy skit between Abbott and Costello</a:t>
            </a:r>
          </a:p>
          <a:p>
            <a:endParaRPr lang="en-US" dirty="0"/>
          </a:p>
        </p:txBody>
      </p:sp>
      <p:grpSp>
        <p:nvGrpSpPr>
          <p:cNvPr id="48" name="Group 47"/>
          <p:cNvGrpSpPr/>
          <p:nvPr/>
        </p:nvGrpSpPr>
        <p:grpSpPr>
          <a:xfrm>
            <a:off x="1555158" y="2417697"/>
            <a:ext cx="8813793" cy="4389503"/>
            <a:chOff x="1555158" y="2417697"/>
            <a:chExt cx="8813793" cy="4389503"/>
          </a:xfrm>
        </p:grpSpPr>
        <p:sp>
          <p:nvSpPr>
            <p:cNvPr id="45" name="Rounded Rectangle 44"/>
            <p:cNvSpPr/>
            <p:nvPr/>
          </p:nvSpPr>
          <p:spPr>
            <a:xfrm>
              <a:off x="1555158" y="2417697"/>
              <a:ext cx="8813793" cy="4389503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1855441" y="2522201"/>
              <a:ext cx="20445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solidFill>
                    <a:srgbClr val="FF0000"/>
                  </a:solidFill>
                </a:rPr>
                <a:t>Main Program</a:t>
              </a:r>
              <a:endParaRPr lang="en-US" sz="2400" dirty="0">
                <a:solidFill>
                  <a:srgbClr val="FF0000"/>
                </a:solidFill>
              </a:endParaRPr>
            </a:p>
          </p:txBody>
        </p:sp>
        <p:pic>
          <p:nvPicPr>
            <p:cNvPr id="44" name="Picture 4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88484" y="2417697"/>
              <a:ext cx="7230299" cy="43053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56891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8777" y="1201890"/>
            <a:ext cx="10091163" cy="5129898"/>
          </a:xfrm>
        </p:spPr>
        <p:txBody>
          <a:bodyPr>
            <a:normAutofit fontScale="85000" lnSpcReduction="20000"/>
          </a:bodyPr>
          <a:lstStyle/>
          <a:p>
            <a:pPr hangingPunct="0">
              <a:spcBef>
                <a:spcPts val="1417"/>
              </a:spcBef>
              <a:buSzPct val="75000"/>
              <a:buFont typeface="Wingdings" panose="05000000000000000000" pitchFamily="2" charset="2"/>
              <a:buChar char="Ø"/>
            </a:pPr>
            <a:r>
              <a:rPr lang="en-US" sz="2800" dirty="0" smtClean="0">
                <a:highlight>
                  <a:scrgbClr r="0" g="0" b="0">
                    <a:alpha val="0"/>
                  </a:scrgbClr>
                </a:highlight>
              </a:rPr>
              <a:t>A </a:t>
            </a:r>
            <a:r>
              <a:rPr lang="en-US" sz="2800" dirty="0">
                <a:highlight>
                  <a:scrgbClr r="0" g="0" b="0">
                    <a:alpha val="0"/>
                  </a:scrgbClr>
                </a:highlight>
              </a:rPr>
              <a:t>single threaded </a:t>
            </a:r>
            <a:r>
              <a:rPr lang="en-US" sz="2800" dirty="0" smtClean="0">
                <a:highlight>
                  <a:scrgbClr r="0" g="0" b="0">
                    <a:alpha val="0"/>
                  </a:scrgbClr>
                </a:highlight>
              </a:rPr>
              <a:t>C++ application</a:t>
            </a:r>
          </a:p>
          <a:p>
            <a:pPr lvl="1" hangingPunct="0">
              <a:spcBef>
                <a:spcPts val="1417"/>
              </a:spcBef>
              <a:buSzPct val="75000"/>
              <a:buFont typeface="Wingdings" panose="05000000000000000000" pitchFamily="2" charset="2"/>
              <a:buChar char="Ø"/>
            </a:pPr>
            <a:r>
              <a:rPr lang="en-US" sz="2600" dirty="0">
                <a:highlight>
                  <a:scrgbClr r="0" g="0" b="0">
                    <a:alpha val="0"/>
                  </a:scrgbClr>
                </a:highlight>
              </a:rPr>
              <a:t>D</a:t>
            </a:r>
            <a:r>
              <a:rPr lang="en-US" sz="2600" dirty="0" smtClean="0">
                <a:highlight>
                  <a:scrgbClr r="0" g="0" b="0">
                    <a:alpha val="0"/>
                  </a:scrgbClr>
                </a:highlight>
              </a:rPr>
              <a:t>eveloped within the TT&amp;T Centos VM</a:t>
            </a:r>
            <a:endParaRPr lang="en-US" sz="2600" dirty="0">
              <a:highlight>
                <a:scrgbClr r="0" g="0" b="0">
                  <a:alpha val="0"/>
                </a:scrgbClr>
              </a:highlight>
            </a:endParaRPr>
          </a:p>
          <a:p>
            <a:pPr hangingPunct="0">
              <a:spcBef>
                <a:spcPts val="1417"/>
              </a:spcBef>
              <a:buSzPct val="75000"/>
              <a:buFont typeface="Wingdings" panose="05000000000000000000" pitchFamily="2" charset="2"/>
              <a:buChar char="Ø"/>
            </a:pPr>
            <a:r>
              <a:rPr lang="en-US" sz="2800" dirty="0">
                <a:highlight>
                  <a:scrgbClr r="0" g="0" b="0">
                    <a:alpha val="0"/>
                  </a:scrgbClr>
                </a:highlight>
              </a:rPr>
              <a:t>Uses some convenient C++11 functions</a:t>
            </a:r>
          </a:p>
          <a:p>
            <a:pPr lvl="1" hangingPunct="0">
              <a:spcBef>
                <a:spcPts val="1417"/>
              </a:spcBef>
              <a:buSzPct val="75000"/>
              <a:buFont typeface="Wingdings" panose="05000000000000000000" pitchFamily="2" charset="2"/>
              <a:buChar char="Ø"/>
            </a:pPr>
            <a:r>
              <a:rPr lang="en-US" sz="2600" dirty="0">
                <a:highlight>
                  <a:scrgbClr r="0" g="0" b="0">
                    <a:alpha val="0"/>
                  </a:scrgbClr>
                </a:highlight>
              </a:rPr>
              <a:t>auto keyword type interpreter</a:t>
            </a:r>
          </a:p>
          <a:p>
            <a:pPr lvl="1" hangingPunct="0">
              <a:spcBef>
                <a:spcPts val="1417"/>
              </a:spcBef>
              <a:buSzPct val="75000"/>
              <a:buFont typeface="Wingdings" panose="05000000000000000000" pitchFamily="2" charset="2"/>
              <a:buChar char="Ø"/>
            </a:pPr>
            <a:r>
              <a:rPr lang="en-US" sz="2600" dirty="0" err="1">
                <a:highlight>
                  <a:scrgbClr r="0" g="0" b="0">
                    <a:alpha val="0"/>
                  </a:scrgbClr>
                </a:highlight>
              </a:rPr>
              <a:t>chrono</a:t>
            </a:r>
            <a:r>
              <a:rPr lang="en-US" sz="2600" dirty="0">
                <a:highlight>
                  <a:scrgbClr r="0" g="0" b="0">
                    <a:alpha val="0"/>
                  </a:scrgbClr>
                </a:highlight>
              </a:rPr>
              <a:t> for time points</a:t>
            </a:r>
          </a:p>
          <a:p>
            <a:pPr lvl="1" hangingPunct="0">
              <a:spcBef>
                <a:spcPts val="1417"/>
              </a:spcBef>
              <a:buSzPct val="75000"/>
              <a:buFont typeface="Wingdings" panose="05000000000000000000" pitchFamily="2" charset="2"/>
              <a:buChar char="Ø"/>
            </a:pPr>
            <a:r>
              <a:rPr lang="en-US" sz="2600" dirty="0">
                <a:highlight>
                  <a:scrgbClr r="0" g="0" b="0">
                    <a:alpha val="0"/>
                  </a:scrgbClr>
                </a:highlight>
              </a:rPr>
              <a:t>delegating constructors</a:t>
            </a:r>
          </a:p>
          <a:p>
            <a:pPr hangingPunct="0">
              <a:spcBef>
                <a:spcPts val="1417"/>
              </a:spcBef>
              <a:buSzPct val="75000"/>
              <a:buFont typeface="Wingdings" panose="05000000000000000000" pitchFamily="2" charset="2"/>
              <a:buChar char="Ø"/>
            </a:pPr>
            <a:r>
              <a:rPr lang="en-US" sz="2800" dirty="0">
                <a:highlight>
                  <a:scrgbClr r="0" g="0" b="0">
                    <a:alpha val="0"/>
                  </a:scrgbClr>
                </a:highlight>
              </a:rPr>
              <a:t>Uses simple factory and singleton design patterns</a:t>
            </a:r>
          </a:p>
          <a:p>
            <a:pPr hangingPunct="0">
              <a:spcBef>
                <a:spcPts val="1417"/>
              </a:spcBef>
              <a:buSzPct val="75000"/>
              <a:buFont typeface="Wingdings" panose="05000000000000000000" pitchFamily="2" charset="2"/>
              <a:buChar char="Ø"/>
            </a:pPr>
            <a:r>
              <a:rPr lang="en-US" sz="2800" dirty="0">
                <a:highlight>
                  <a:scrgbClr r="0" g="0" b="0">
                    <a:alpha val="0"/>
                  </a:scrgbClr>
                </a:highlight>
              </a:rPr>
              <a:t>Depends on “</a:t>
            </a:r>
            <a:r>
              <a:rPr lang="en-US" sz="2800" dirty="0" err="1">
                <a:highlight>
                  <a:scrgbClr r="0" g="0" b="0">
                    <a:alpha val="0"/>
                  </a:scrgbClr>
                </a:highlight>
              </a:rPr>
              <a:t>espeak</a:t>
            </a:r>
            <a:r>
              <a:rPr lang="en-US" sz="2800" dirty="0">
                <a:highlight>
                  <a:scrgbClr r="0" g="0" b="0">
                    <a:alpha val="0"/>
                  </a:scrgbClr>
                </a:highlight>
              </a:rPr>
              <a:t>” which is built-in to many Linux </a:t>
            </a:r>
            <a:r>
              <a:rPr lang="en-US" sz="2800" dirty="0" smtClean="0">
                <a:highlight>
                  <a:scrgbClr r="0" g="0" b="0">
                    <a:alpha val="0"/>
                  </a:scrgbClr>
                </a:highlight>
              </a:rPr>
              <a:t>distributions</a:t>
            </a:r>
          </a:p>
          <a:p>
            <a:pPr hangingPunct="0">
              <a:spcBef>
                <a:spcPts val="1417"/>
              </a:spcBef>
              <a:buSzPct val="75000"/>
              <a:buFont typeface="Wingdings" panose="05000000000000000000" pitchFamily="2" charset="2"/>
              <a:buChar char="Ø"/>
            </a:pPr>
            <a:r>
              <a:rPr lang="en-US" sz="2800" dirty="0" smtClean="0">
                <a:highlight>
                  <a:scrgbClr r="0" g="0" b="0">
                    <a:alpha val="0"/>
                  </a:scrgbClr>
                </a:highlight>
              </a:rPr>
              <a:t>Documentation auto</a:t>
            </a:r>
            <a:r>
              <a:rPr lang="en-US" sz="2800" u="sng" dirty="0" smtClean="0">
                <a:highlight>
                  <a:scrgbClr r="0" g="0" b="0">
                    <a:alpha val="0"/>
                  </a:scrgbClr>
                </a:highlight>
              </a:rPr>
              <a:t>magically</a:t>
            </a:r>
            <a:r>
              <a:rPr lang="en-US" sz="2800" dirty="0" smtClean="0">
                <a:highlight>
                  <a:scrgbClr r="0" g="0" b="0">
                    <a:alpha val="0"/>
                  </a:scrgbClr>
                </a:highlight>
              </a:rPr>
              <a:t> generated by </a:t>
            </a:r>
            <a:r>
              <a:rPr lang="en-US" sz="2800" dirty="0" err="1" smtClean="0">
                <a:highlight>
                  <a:scrgbClr r="0" g="0" b="0">
                    <a:alpha val="0"/>
                  </a:scrgbClr>
                </a:highlight>
              </a:rPr>
              <a:t>Doxygen</a:t>
            </a:r>
            <a:endParaRPr lang="en-US" sz="2800" dirty="0">
              <a:highlight>
                <a:scrgbClr r="0" g="0" b="0">
                  <a:alpha val="0"/>
                </a:scrgbClr>
              </a:highlight>
            </a:endParaRPr>
          </a:p>
          <a:p>
            <a:pPr hangingPunct="0">
              <a:spcBef>
                <a:spcPts val="1417"/>
              </a:spcBef>
              <a:buSzPct val="75000"/>
              <a:buFont typeface="Wingdings" panose="05000000000000000000" pitchFamily="2" charset="2"/>
              <a:buChar char="Ø"/>
            </a:pPr>
            <a:r>
              <a:rPr lang="en-US" sz="2800" dirty="0">
                <a:highlight>
                  <a:scrgbClr r="0" g="0" b="0">
                    <a:alpha val="0"/>
                  </a:scrgbClr>
                </a:highlight>
              </a:rPr>
              <a:t>Configuration managed in Git</a:t>
            </a:r>
          </a:p>
          <a:p>
            <a:pPr hangingPunct="0">
              <a:spcBef>
                <a:spcPts val="1417"/>
              </a:spcBef>
              <a:buSzPct val="75000"/>
              <a:buFont typeface="Wingdings" panose="05000000000000000000" pitchFamily="2" charset="2"/>
              <a:buChar char="Ø"/>
            </a:pPr>
            <a:r>
              <a:rPr lang="en-US" sz="2800" dirty="0">
                <a:highlight>
                  <a:scrgbClr r="0" g="0" b="0">
                    <a:alpha val="0"/>
                  </a:scrgbClr>
                </a:highlight>
              </a:rPr>
              <a:t>Hosted on the LM Space </a:t>
            </a:r>
            <a:r>
              <a:rPr lang="en-US" sz="2800" dirty="0" err="1">
                <a:highlight>
                  <a:scrgbClr r="0" g="0" b="0">
                    <a:alpha val="0"/>
                  </a:scrgbClr>
                </a:highlight>
              </a:rPr>
              <a:t>Gitlab</a:t>
            </a:r>
            <a:r>
              <a:rPr lang="en-US" sz="2800" dirty="0">
                <a:highlight>
                  <a:scrgbClr r="0" g="0" b="0">
                    <a:alpha val="0"/>
                  </a:scrgbClr>
                </a:highlight>
              </a:rPr>
              <a:t> instance</a:t>
            </a:r>
          </a:p>
          <a:p>
            <a:pPr lvl="1" hangingPunct="0">
              <a:spcBef>
                <a:spcPts val="1417"/>
              </a:spcBef>
              <a:buSzPct val="75000"/>
              <a:buFont typeface="Wingdings" panose="05000000000000000000" pitchFamily="2" charset="2"/>
              <a:buChar char="Ø"/>
            </a:pPr>
            <a:endParaRPr lang="en-US" sz="2600" dirty="0">
              <a:highlight>
                <a:scrgbClr r="0" g="0" b="0">
                  <a:alpha val="0"/>
                </a:scrgbClr>
              </a:highlight>
            </a:endParaRPr>
          </a:p>
          <a:p>
            <a:pPr lvl="1" hangingPunct="0">
              <a:spcBef>
                <a:spcPts val="1417"/>
              </a:spcBef>
              <a:buSzPct val="75000"/>
              <a:buFont typeface="Wingdings" panose="05000000000000000000" pitchFamily="2" charset="2"/>
              <a:buChar char="Ø"/>
            </a:pPr>
            <a:endParaRPr lang="en-US" sz="2600" dirty="0">
              <a:highlight>
                <a:scrgbClr r="0" g="0" b="0">
                  <a:alpha val="0"/>
                </a:scrgbClr>
              </a:highlight>
            </a:endParaRPr>
          </a:p>
          <a:p>
            <a:endParaRPr lang="en-US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208777" y="168166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Introducing </a:t>
            </a:r>
            <a:r>
              <a:rPr lang="en-US" dirty="0" err="1"/>
              <a:t>WOFSim</a:t>
            </a:r>
            <a:r>
              <a:rPr lang="en-US" dirty="0"/>
              <a:t>!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4294967295"/>
          </p:nvPr>
        </p:nvSpPr>
        <p:spPr>
          <a:xfrm>
            <a:off x="6003634" y="6437868"/>
            <a:ext cx="184731" cy="369332"/>
          </a:xfrm>
        </p:spPr>
        <p:txBody>
          <a:bodyPr/>
          <a:lstStyle/>
          <a:p>
            <a:endParaRPr lang="en-US" smtClean="0"/>
          </a:p>
        </p:txBody>
      </p:sp>
      <p:pic>
        <p:nvPicPr>
          <p:cNvPr id="1026" name="Picture 2" descr="ISO C++ Logo.sv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5648" y="1997222"/>
            <a:ext cx="1749344" cy="1961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elated imag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7648" y="143273"/>
            <a:ext cx="2308000" cy="2069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mage result for git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4264" y="5468282"/>
            <a:ext cx="2322361" cy="969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Related image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0345" y="2978105"/>
            <a:ext cx="2948810" cy="768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0860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275" y="1201890"/>
            <a:ext cx="11600046" cy="5129898"/>
          </a:xfrm>
        </p:spPr>
        <p:txBody>
          <a:bodyPr>
            <a:normAutofit/>
          </a:bodyPr>
          <a:lstStyle/>
          <a:p>
            <a:pPr lvl="0" hangingPunct="0">
              <a:spcBef>
                <a:spcPts val="1417"/>
              </a:spcBef>
              <a:buClr>
                <a:srgbClr val="4E67C8">
                  <a:lumMod val="75000"/>
                </a:srgbClr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600" dirty="0" smtClean="0">
                <a:solidFill>
                  <a:prstClr val="black">
                    <a:lumMod val="75000"/>
                    <a:lumOff val="25000"/>
                  </a:prstClr>
                </a:solidFill>
                <a:highlight>
                  <a:scrgbClr r="0" g="0" b="0">
                    <a:alpha val="0"/>
                  </a:scrgbClr>
                </a:highlight>
              </a:rPr>
              <a:t>Hosted on LM Space </a:t>
            </a:r>
            <a:r>
              <a:rPr lang="en-US" sz="2600" dirty="0" err="1" smtClean="0">
                <a:solidFill>
                  <a:prstClr val="black">
                    <a:lumMod val="75000"/>
                    <a:lumOff val="25000"/>
                  </a:prstClr>
                </a:solidFill>
                <a:highlight>
                  <a:scrgbClr r="0" g="0" b="0">
                    <a:alpha val="0"/>
                  </a:scrgbClr>
                </a:highlight>
              </a:rPr>
              <a:t>Gitlab</a:t>
            </a:r>
            <a:r>
              <a:rPr lang="en-US" sz="2600" dirty="0" smtClean="0">
                <a:solidFill>
                  <a:prstClr val="black">
                    <a:lumMod val="75000"/>
                    <a:lumOff val="25000"/>
                  </a:prstClr>
                </a:solidFill>
                <a:highlight>
                  <a:scrgbClr r="0" g="0" b="0">
                    <a:alpha val="0"/>
                  </a:scrgbClr>
                </a:highlight>
              </a:rPr>
              <a:t> instance </a:t>
            </a:r>
          </a:p>
          <a:p>
            <a:pPr lvl="1" hangingPunct="0">
              <a:spcBef>
                <a:spcPts val="1417"/>
              </a:spcBef>
              <a:buClr>
                <a:srgbClr val="4E67C8">
                  <a:lumMod val="75000"/>
                </a:srgbClr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Monospac821 BT" panose="020B0609020202020204" pitchFamily="49" charset="0"/>
                <a:hlinkClick r:id="rId2"/>
              </a:rPr>
              <a:t>https://</a:t>
            </a:r>
            <a:r>
              <a:rPr lang="en-US" dirty="0" smtClean="0">
                <a:highlight>
                  <a:scrgbClr r="0" g="0" b="0">
                    <a:alpha val="0"/>
                  </a:scrgbClr>
                </a:highlight>
                <a:latin typeface="Monospac821 BT" panose="020B0609020202020204" pitchFamily="49" charset="0"/>
                <a:hlinkClick r:id="rId2"/>
              </a:rPr>
              <a:t>gitlab.lmms.lmco.com/pscheps/whos_on_first_simple_simulation_engine</a:t>
            </a:r>
            <a:endParaRPr lang="en-US" dirty="0" smtClean="0">
              <a:highlight>
                <a:scrgbClr r="0" g="0" b="0">
                  <a:alpha val="0"/>
                </a:scrgbClr>
              </a:highlight>
              <a:latin typeface="Monospac821 BT" panose="020B0609020202020204" pitchFamily="49" charset="0"/>
            </a:endParaRPr>
          </a:p>
          <a:p>
            <a:endParaRPr lang="en-US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208777" y="168166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 smtClean="0"/>
              <a:t>Where Is The Source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4294967295"/>
          </p:nvPr>
        </p:nvSpPr>
        <p:spPr>
          <a:xfrm>
            <a:off x="6003634" y="6437868"/>
            <a:ext cx="184731" cy="369332"/>
          </a:xfrm>
        </p:spPr>
        <p:txBody>
          <a:bodyPr/>
          <a:lstStyle/>
          <a:p>
            <a:endParaRPr lang="en-US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4663" y="2325360"/>
            <a:ext cx="5410030" cy="4158674"/>
          </a:xfrm>
          <a:prstGeom prst="rect">
            <a:avLst/>
          </a:prstGeom>
        </p:spPr>
      </p:pic>
      <p:pic>
        <p:nvPicPr>
          <p:cNvPr id="8" name="Picture 4" descr="Related imag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5659" y="3208494"/>
            <a:ext cx="2308000" cy="2069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1358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275" y="1201890"/>
            <a:ext cx="11600046" cy="5129898"/>
          </a:xfrm>
        </p:spPr>
        <p:txBody>
          <a:bodyPr>
            <a:normAutofit/>
          </a:bodyPr>
          <a:lstStyle/>
          <a:p>
            <a:pPr lvl="0" hangingPunct="0">
              <a:spcBef>
                <a:spcPts val="1417"/>
              </a:spcBef>
              <a:buClr>
                <a:srgbClr val="4E67C8">
                  <a:lumMod val="75000"/>
                </a:srgbClr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600" dirty="0" smtClean="0">
                <a:solidFill>
                  <a:prstClr val="black">
                    <a:lumMod val="75000"/>
                    <a:lumOff val="25000"/>
                  </a:prstClr>
                </a:solidFill>
                <a:highlight>
                  <a:scrgbClr r="0" g="0" b="0">
                    <a:alpha val="0"/>
                  </a:scrgbClr>
                </a:highlight>
              </a:rPr>
              <a:t>Clone </a:t>
            </a:r>
            <a:r>
              <a:rPr lang="en-US" sz="2600" dirty="0" err="1">
                <a:solidFill>
                  <a:prstClr val="black">
                    <a:lumMod val="75000"/>
                    <a:lumOff val="25000"/>
                  </a:prstClr>
                </a:solidFill>
                <a:highlight>
                  <a:scrgbClr r="0" g="0" b="0">
                    <a:alpha val="0"/>
                  </a:scrgbClr>
                </a:highlight>
              </a:rPr>
              <a:t>G</a:t>
            </a:r>
            <a:r>
              <a:rPr lang="en-US" sz="2600" dirty="0" err="1" smtClean="0">
                <a:solidFill>
                  <a:prstClr val="black">
                    <a:lumMod val="75000"/>
                    <a:lumOff val="25000"/>
                  </a:prstClr>
                </a:solidFill>
                <a:highlight>
                  <a:scrgbClr r="0" g="0" b="0">
                    <a:alpha val="0"/>
                  </a:scrgbClr>
                </a:highlight>
              </a:rPr>
              <a:t>itlab</a:t>
            </a:r>
            <a:r>
              <a:rPr lang="en-US" sz="2600" dirty="0" smtClean="0">
                <a:solidFill>
                  <a:prstClr val="black">
                    <a:lumMod val="75000"/>
                    <a:lumOff val="25000"/>
                  </a:prstClr>
                </a:solidFill>
                <a:highlight>
                  <a:scrgbClr r="0" g="0" b="0">
                    <a:alpha val="0"/>
                  </a:scrgbClr>
                </a:highlight>
              </a:rPr>
              <a:t> repo from Linux/</a:t>
            </a:r>
            <a:r>
              <a:rPr lang="en-US" sz="2600" dirty="0" err="1" smtClean="0">
                <a:solidFill>
                  <a:prstClr val="black">
                    <a:lumMod val="75000"/>
                    <a:lumOff val="25000"/>
                  </a:prstClr>
                </a:solidFill>
                <a:highlight>
                  <a:scrgbClr r="0" g="0" b="0">
                    <a:alpha val="0"/>
                  </a:scrgbClr>
                </a:highlight>
              </a:rPr>
              <a:t>PuTTY</a:t>
            </a:r>
            <a:endParaRPr lang="en-US" sz="2600" dirty="0" smtClean="0">
              <a:solidFill>
                <a:prstClr val="black">
                  <a:lumMod val="75000"/>
                  <a:lumOff val="25000"/>
                </a:prstClr>
              </a:solidFill>
              <a:highlight>
                <a:scrgbClr r="0" g="0" b="0">
                  <a:alpha val="0"/>
                </a:scrgbClr>
              </a:highlight>
            </a:endParaRPr>
          </a:p>
          <a:p>
            <a:pPr lvl="1" hangingPunct="0">
              <a:spcBef>
                <a:spcPts val="1417"/>
              </a:spcBef>
              <a:buClr>
                <a:srgbClr val="4E67C8">
                  <a:lumMod val="75000"/>
                </a:srgbClr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dirty="0" smtClean="0">
                <a:highlight>
                  <a:scrgbClr r="0" g="0" b="0">
                    <a:alpha val="0"/>
                  </a:scrgbClr>
                </a:highlight>
                <a:latin typeface="Monospac821 BT" panose="020B0609020202020204" pitchFamily="49" charset="0"/>
              </a:rPr>
              <a:t>git clone </a:t>
            </a:r>
            <a:r>
              <a:rPr lang="en-US" dirty="0" err="1" smtClean="0">
                <a:highlight>
                  <a:scrgbClr r="0" g="0" b="0">
                    <a:alpha val="0"/>
                  </a:scrgbClr>
                </a:highlight>
                <a:latin typeface="Monospac821 BT" panose="020B0609020202020204" pitchFamily="49" charset="0"/>
              </a:rPr>
              <a:t>git@gitlab.lmms.lmco.com:pscheps</a:t>
            </a:r>
            <a:r>
              <a:rPr lang="en-US" dirty="0" smtClean="0">
                <a:highlight>
                  <a:scrgbClr r="0" g="0" b="0">
                    <a:alpha val="0"/>
                  </a:scrgbClr>
                </a:highlight>
                <a:latin typeface="Monospac821 BT" panose="020B0609020202020204" pitchFamily="49" charset="0"/>
              </a:rPr>
              <a:t>/</a:t>
            </a:r>
            <a:r>
              <a:rPr lang="en-US" dirty="0" err="1" smtClean="0">
                <a:highlight>
                  <a:scrgbClr r="0" g="0" b="0">
                    <a:alpha val="0"/>
                  </a:scrgbClr>
                </a:highlight>
                <a:latin typeface="Monospac821 BT" panose="020B0609020202020204" pitchFamily="49" charset="0"/>
              </a:rPr>
              <a:t>whos_on_first_simple_simulation_engine.git</a:t>
            </a:r>
            <a:endParaRPr lang="en-US" dirty="0" smtClean="0">
              <a:highlight>
                <a:scrgbClr r="0" g="0" b="0">
                  <a:alpha val="0"/>
                </a:scrgbClr>
              </a:highlight>
              <a:latin typeface="Monospac821 BT" panose="020B0609020202020204" pitchFamily="49" charset="0"/>
            </a:endParaRPr>
          </a:p>
          <a:p>
            <a:pPr lvl="1" hangingPunct="0">
              <a:spcBef>
                <a:spcPts val="1417"/>
              </a:spcBef>
              <a:buSzPct val="75000"/>
              <a:buFont typeface="Wingdings" panose="05000000000000000000" pitchFamily="2" charset="2"/>
              <a:buChar char="Ø"/>
            </a:pPr>
            <a:endParaRPr lang="en-US" sz="2600" dirty="0">
              <a:highlight>
                <a:scrgbClr r="0" g="0" b="0">
                  <a:alpha val="0"/>
                </a:scrgbClr>
              </a:highlight>
            </a:endParaRPr>
          </a:p>
          <a:p>
            <a:pPr lvl="1" hangingPunct="0">
              <a:spcBef>
                <a:spcPts val="1417"/>
              </a:spcBef>
              <a:buSzPct val="75000"/>
              <a:buFont typeface="Wingdings" panose="05000000000000000000" pitchFamily="2" charset="2"/>
              <a:buChar char="Ø"/>
            </a:pPr>
            <a:endParaRPr lang="en-US" sz="2600" dirty="0">
              <a:highlight>
                <a:scrgbClr r="0" g="0" b="0">
                  <a:alpha val="0"/>
                </a:scrgbClr>
              </a:highlight>
            </a:endParaRPr>
          </a:p>
          <a:p>
            <a:endParaRPr lang="en-US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208777" y="168166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 smtClean="0"/>
              <a:t>How To Get The Source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4294967295"/>
          </p:nvPr>
        </p:nvSpPr>
        <p:spPr>
          <a:xfrm>
            <a:off x="6003634" y="6437868"/>
            <a:ext cx="184731" cy="369332"/>
          </a:xfrm>
        </p:spPr>
        <p:txBody>
          <a:bodyPr/>
          <a:lstStyle/>
          <a:p>
            <a:endParaRPr lang="en-US" smtClean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77" y="2793024"/>
            <a:ext cx="11726882" cy="2234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025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275" y="1201890"/>
            <a:ext cx="11600046" cy="5129898"/>
          </a:xfrm>
        </p:spPr>
        <p:txBody>
          <a:bodyPr>
            <a:normAutofit/>
          </a:bodyPr>
          <a:lstStyle/>
          <a:p>
            <a:pPr lvl="0" hangingPunct="0">
              <a:spcBef>
                <a:spcPts val="1417"/>
              </a:spcBef>
              <a:buClr>
                <a:srgbClr val="4E67C8">
                  <a:lumMod val="75000"/>
                </a:srgbClr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600" dirty="0" smtClean="0">
                <a:solidFill>
                  <a:prstClr val="black">
                    <a:lumMod val="75000"/>
                    <a:lumOff val="25000"/>
                  </a:prstClr>
                </a:solidFill>
                <a:highlight>
                  <a:scrgbClr r="0" g="0" b="0">
                    <a:alpha val="0"/>
                  </a:scrgbClr>
                </a:highlight>
              </a:rPr>
              <a:t>Execute make from Linux or </a:t>
            </a:r>
            <a:r>
              <a:rPr lang="en-US" sz="2600" dirty="0" err="1" smtClean="0">
                <a:solidFill>
                  <a:prstClr val="black">
                    <a:lumMod val="75000"/>
                    <a:lumOff val="25000"/>
                  </a:prstClr>
                </a:solidFill>
                <a:highlight>
                  <a:scrgbClr r="0" g="0" b="0">
                    <a:alpha val="0"/>
                  </a:scrgbClr>
                </a:highlight>
              </a:rPr>
              <a:t>PuTTY</a:t>
            </a:r>
            <a:r>
              <a:rPr lang="en-US" sz="2600" dirty="0" smtClean="0">
                <a:solidFill>
                  <a:prstClr val="black">
                    <a:lumMod val="75000"/>
                    <a:lumOff val="25000"/>
                  </a:prstClr>
                </a:solidFill>
                <a:highlight>
                  <a:scrgbClr r="0" g="0" b="0">
                    <a:alpha val="0"/>
                  </a:scrgbClr>
                </a:highlight>
              </a:rPr>
              <a:t> – uses simple </a:t>
            </a:r>
            <a:r>
              <a:rPr lang="en-US" sz="2600" dirty="0" err="1" smtClean="0">
                <a:solidFill>
                  <a:prstClr val="black">
                    <a:lumMod val="75000"/>
                    <a:lumOff val="25000"/>
                  </a:prstClr>
                </a:solidFill>
                <a:highlight>
                  <a:scrgbClr r="0" g="0" b="0">
                    <a:alpha val="0"/>
                  </a:scrgbClr>
                </a:highlight>
              </a:rPr>
              <a:t>Makefile</a:t>
            </a:r>
            <a:r>
              <a:rPr lang="en-US" sz="2600" dirty="0" smtClean="0">
                <a:solidFill>
                  <a:prstClr val="black">
                    <a:lumMod val="75000"/>
                    <a:lumOff val="25000"/>
                  </a:prstClr>
                </a:solidFill>
                <a:highlight>
                  <a:scrgbClr r="0" g="0" b="0">
                    <a:alpha val="0"/>
                  </a:scrgbClr>
                </a:highlight>
              </a:rPr>
              <a:t> to gather source and headers, produce objects and link into an executable</a:t>
            </a:r>
          </a:p>
          <a:p>
            <a:pPr lvl="1" hangingPunct="0">
              <a:spcBef>
                <a:spcPts val="1417"/>
              </a:spcBef>
              <a:buClr>
                <a:srgbClr val="4E67C8">
                  <a:lumMod val="75000"/>
                </a:srgbClr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Monospac821 BT" panose="020B0609020202020204" pitchFamily="49" charset="0"/>
              </a:rPr>
              <a:t>cd 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Monospac821 BT" panose="020B0609020202020204" pitchFamily="49" charset="0"/>
              </a:rPr>
              <a:t>whos_on_first_simple_simulation_engine</a:t>
            </a:r>
            <a:r>
              <a:rPr lang="en-US" dirty="0" smtClean="0">
                <a:highlight>
                  <a:scrgbClr r="0" g="0" b="0">
                    <a:alpha val="0"/>
                  </a:scrgbClr>
                </a:highlight>
                <a:latin typeface="Monospac821 BT" panose="020B0609020202020204" pitchFamily="49" charset="0"/>
              </a:rPr>
              <a:t>/</a:t>
            </a:r>
          </a:p>
          <a:p>
            <a:pPr lvl="1" hangingPunct="0">
              <a:spcBef>
                <a:spcPts val="1417"/>
              </a:spcBef>
              <a:buClr>
                <a:srgbClr val="4E67C8">
                  <a:lumMod val="75000"/>
                </a:srgbClr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dirty="0" smtClean="0">
                <a:highlight>
                  <a:scrgbClr r="0" g="0" b="0">
                    <a:alpha val="0"/>
                  </a:scrgbClr>
                </a:highlight>
                <a:latin typeface="Monospac821 BT" panose="020B0609020202020204" pitchFamily="49" charset="0"/>
              </a:rPr>
              <a:t>make</a:t>
            </a:r>
          </a:p>
          <a:p>
            <a:pPr lvl="1" hangingPunct="0">
              <a:spcBef>
                <a:spcPts val="1417"/>
              </a:spcBef>
              <a:buSzPct val="75000"/>
              <a:buFont typeface="Wingdings" panose="05000000000000000000" pitchFamily="2" charset="2"/>
              <a:buChar char="Ø"/>
            </a:pPr>
            <a:endParaRPr lang="en-US" sz="2600" dirty="0">
              <a:highlight>
                <a:scrgbClr r="0" g="0" b="0">
                  <a:alpha val="0"/>
                </a:scrgbClr>
              </a:highlight>
            </a:endParaRPr>
          </a:p>
          <a:p>
            <a:pPr lvl="1" hangingPunct="0">
              <a:spcBef>
                <a:spcPts val="1417"/>
              </a:spcBef>
              <a:buSzPct val="75000"/>
              <a:buFont typeface="Wingdings" panose="05000000000000000000" pitchFamily="2" charset="2"/>
              <a:buChar char="Ø"/>
            </a:pPr>
            <a:endParaRPr lang="en-US" sz="2600" dirty="0">
              <a:highlight>
                <a:scrgbClr r="0" g="0" b="0">
                  <a:alpha val="0"/>
                </a:scrgbClr>
              </a:highlight>
            </a:endParaRPr>
          </a:p>
          <a:p>
            <a:endParaRPr lang="en-US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208777" y="168166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 smtClean="0"/>
              <a:t>How To Build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4294967295"/>
          </p:nvPr>
        </p:nvSpPr>
        <p:spPr>
          <a:xfrm>
            <a:off x="6003634" y="6437868"/>
            <a:ext cx="184731" cy="369332"/>
          </a:xfrm>
        </p:spPr>
        <p:txBody>
          <a:bodyPr/>
          <a:lstStyle/>
          <a:p>
            <a:endParaRPr lang="en-US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77" y="3181961"/>
            <a:ext cx="11744341" cy="2624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107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275" y="1201890"/>
            <a:ext cx="11600046" cy="5129898"/>
          </a:xfrm>
        </p:spPr>
        <p:txBody>
          <a:bodyPr>
            <a:normAutofit/>
          </a:bodyPr>
          <a:lstStyle/>
          <a:p>
            <a:pPr lvl="0" hangingPunct="0">
              <a:spcBef>
                <a:spcPts val="1417"/>
              </a:spcBef>
              <a:buClr>
                <a:srgbClr val="4E67C8">
                  <a:lumMod val="75000"/>
                </a:srgbClr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600" dirty="0" smtClean="0">
                <a:solidFill>
                  <a:prstClr val="black">
                    <a:lumMod val="75000"/>
                    <a:lumOff val="25000"/>
                  </a:prstClr>
                </a:solidFill>
                <a:highlight>
                  <a:scrgbClr r="0" g="0" b="0">
                    <a:alpha val="0"/>
                  </a:scrgbClr>
                </a:highlight>
              </a:rPr>
              <a:t>Invoke executable from Linux or </a:t>
            </a:r>
            <a:r>
              <a:rPr lang="en-US" sz="2600" dirty="0" err="1" smtClean="0">
                <a:solidFill>
                  <a:prstClr val="black">
                    <a:lumMod val="75000"/>
                    <a:lumOff val="25000"/>
                  </a:prstClr>
                </a:solidFill>
                <a:highlight>
                  <a:scrgbClr r="0" g="0" b="0">
                    <a:alpha val="0"/>
                  </a:scrgbClr>
                </a:highlight>
              </a:rPr>
              <a:t>PuTTY</a:t>
            </a:r>
            <a:endParaRPr lang="en-US" sz="2600" dirty="0" smtClean="0">
              <a:solidFill>
                <a:prstClr val="black">
                  <a:lumMod val="75000"/>
                  <a:lumOff val="25000"/>
                </a:prstClr>
              </a:solidFill>
              <a:highlight>
                <a:scrgbClr r="0" g="0" b="0">
                  <a:alpha val="0"/>
                </a:scrgbClr>
              </a:highlight>
            </a:endParaRPr>
          </a:p>
          <a:p>
            <a:pPr lvl="1" hangingPunct="0">
              <a:spcBef>
                <a:spcPts val="1417"/>
              </a:spcBef>
              <a:buClr>
                <a:srgbClr val="4E67C8">
                  <a:lumMod val="75000"/>
                </a:srgbClr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dirty="0" smtClean="0">
                <a:highlight>
                  <a:scrgbClr r="0" g="0" b="0">
                    <a:alpha val="0"/>
                  </a:scrgbClr>
                </a:highlight>
                <a:latin typeface="Monospac821 BT" panose="020B0609020202020204" pitchFamily="49" charset="0"/>
              </a:rPr>
              <a:t>./</a:t>
            </a:r>
            <a:r>
              <a:rPr lang="en-US" dirty="0" err="1" smtClean="0">
                <a:highlight>
                  <a:scrgbClr r="0" g="0" b="0">
                    <a:alpha val="0"/>
                  </a:scrgbClr>
                </a:highlight>
                <a:latin typeface="Monospac821 BT" panose="020B0609020202020204" pitchFamily="49" charset="0"/>
              </a:rPr>
              <a:t>wofsim</a:t>
            </a:r>
            <a:endParaRPr lang="en-US" dirty="0" smtClean="0">
              <a:highlight>
                <a:scrgbClr r="0" g="0" b="0">
                  <a:alpha val="0"/>
                </a:scrgbClr>
              </a:highlight>
              <a:latin typeface="Monospac821 BT" panose="020B0609020202020204" pitchFamily="49" charset="0"/>
            </a:endParaRPr>
          </a:p>
          <a:p>
            <a:pPr lvl="1" hangingPunct="0">
              <a:spcBef>
                <a:spcPts val="1417"/>
              </a:spcBef>
              <a:buSzPct val="75000"/>
              <a:buFont typeface="Wingdings" panose="05000000000000000000" pitchFamily="2" charset="2"/>
              <a:buChar char="Ø"/>
            </a:pPr>
            <a:endParaRPr lang="en-US" sz="2600" dirty="0">
              <a:highlight>
                <a:scrgbClr r="0" g="0" b="0">
                  <a:alpha val="0"/>
                </a:scrgbClr>
              </a:highlight>
            </a:endParaRPr>
          </a:p>
          <a:p>
            <a:pPr lvl="1" hangingPunct="0">
              <a:spcBef>
                <a:spcPts val="1417"/>
              </a:spcBef>
              <a:buSzPct val="75000"/>
              <a:buFont typeface="Wingdings" panose="05000000000000000000" pitchFamily="2" charset="2"/>
              <a:buChar char="Ø"/>
            </a:pPr>
            <a:endParaRPr lang="en-US" sz="2600" dirty="0">
              <a:highlight>
                <a:scrgbClr r="0" g="0" b="0">
                  <a:alpha val="0"/>
                </a:scrgbClr>
              </a:highlight>
            </a:endParaRPr>
          </a:p>
          <a:p>
            <a:endParaRPr lang="en-US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208777" y="168166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 smtClean="0"/>
              <a:t>How To Run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4294967295"/>
          </p:nvPr>
        </p:nvSpPr>
        <p:spPr>
          <a:xfrm>
            <a:off x="6003634" y="6437868"/>
            <a:ext cx="184731" cy="369332"/>
          </a:xfrm>
        </p:spPr>
        <p:txBody>
          <a:bodyPr/>
          <a:lstStyle/>
          <a:p>
            <a:endParaRPr lang="en-US" smtClean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916" y="2739584"/>
            <a:ext cx="10469436" cy="3077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708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275" y="1201890"/>
            <a:ext cx="11600046" cy="5129898"/>
          </a:xfrm>
        </p:spPr>
        <p:txBody>
          <a:bodyPr>
            <a:normAutofit/>
          </a:bodyPr>
          <a:lstStyle/>
          <a:p>
            <a:pPr lvl="0" hangingPunct="0">
              <a:spcBef>
                <a:spcPts val="1417"/>
              </a:spcBef>
              <a:buClr>
                <a:srgbClr val="4E67C8">
                  <a:lumMod val="75000"/>
                </a:srgbClr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600" dirty="0" smtClean="0">
                <a:solidFill>
                  <a:prstClr val="black">
                    <a:lumMod val="75000"/>
                    <a:lumOff val="25000"/>
                  </a:prstClr>
                </a:solidFill>
                <a:highlight>
                  <a:scrgbClr r="0" g="0" b="0">
                    <a:alpha val="0"/>
                  </a:scrgbClr>
                </a:highlight>
              </a:rPr>
              <a:t>Uses </a:t>
            </a:r>
            <a:r>
              <a:rPr lang="en-US" sz="2600" dirty="0" err="1" smtClean="0">
                <a:solidFill>
                  <a:prstClr val="black">
                    <a:lumMod val="75000"/>
                    <a:lumOff val="25000"/>
                  </a:prstClr>
                </a:solidFill>
                <a:highlight>
                  <a:scrgbClr r="0" g="0" b="0">
                    <a:alpha val="0"/>
                  </a:scrgbClr>
                </a:highlight>
              </a:rPr>
              <a:t>Doxygen</a:t>
            </a:r>
            <a:r>
              <a:rPr lang="en-US" sz="2600" dirty="0" smtClean="0">
                <a:solidFill>
                  <a:prstClr val="black">
                    <a:lumMod val="75000"/>
                    <a:lumOff val="25000"/>
                  </a:prstClr>
                </a:solidFill>
                <a:highlight>
                  <a:scrgbClr r="0" g="0" b="0">
                    <a:alpha val="0"/>
                  </a:scrgbClr>
                </a:highlight>
              </a:rPr>
              <a:t> and configuration contained within </a:t>
            </a:r>
            <a:r>
              <a:rPr lang="en-US" sz="2600" dirty="0" err="1" smtClean="0">
                <a:solidFill>
                  <a:prstClr val="black">
                    <a:lumMod val="75000"/>
                    <a:lumOff val="25000"/>
                  </a:prstClr>
                </a:solidFill>
                <a:highlight>
                  <a:scrgbClr r="0" g="0" b="0">
                    <a:alpha val="0"/>
                  </a:scrgbClr>
                </a:highlight>
              </a:rPr>
              <a:t>Doxyfile</a:t>
            </a:r>
            <a:r>
              <a:rPr lang="en-US" sz="2600" dirty="0" smtClean="0">
                <a:solidFill>
                  <a:prstClr val="black">
                    <a:lumMod val="75000"/>
                    <a:lumOff val="25000"/>
                  </a:prstClr>
                </a:solidFill>
                <a:highlight>
                  <a:scrgbClr r="0" g="0" b="0">
                    <a:alpha val="0"/>
                  </a:scrgbClr>
                </a:highlight>
              </a:rPr>
              <a:t> to generate class/call diagrams </a:t>
            </a:r>
            <a:r>
              <a:rPr lang="en-US" sz="2600" dirty="0">
                <a:solidFill>
                  <a:prstClr val="black">
                    <a:lumMod val="75000"/>
                    <a:lumOff val="25000"/>
                  </a:prstClr>
                </a:solidFill>
                <a:highlight>
                  <a:scrgbClr r="0" g="0" b="0">
                    <a:alpha val="0"/>
                  </a:scrgbClr>
                </a:highlight>
              </a:rPr>
              <a:t>in html and </a:t>
            </a:r>
            <a:r>
              <a:rPr lang="en-US" sz="2600" dirty="0" err="1" smtClean="0">
                <a:solidFill>
                  <a:prstClr val="black">
                    <a:lumMod val="75000"/>
                    <a:lumOff val="25000"/>
                  </a:prstClr>
                </a:solidFill>
                <a:highlight>
                  <a:scrgbClr r="0" g="0" b="0">
                    <a:alpha val="0"/>
                  </a:scrgbClr>
                </a:highlight>
              </a:rPr>
              <a:t>LaTeX</a:t>
            </a:r>
            <a:r>
              <a:rPr lang="en-US" sz="2600" dirty="0" smtClean="0">
                <a:solidFill>
                  <a:prstClr val="black">
                    <a:lumMod val="75000"/>
                    <a:lumOff val="25000"/>
                  </a:prstClr>
                </a:solidFill>
                <a:highlight>
                  <a:scrgbClr r="0" g="0" b="0">
                    <a:alpha val="0"/>
                  </a:scrgbClr>
                </a:highlight>
              </a:rPr>
              <a:t> styled PDFs</a:t>
            </a:r>
          </a:p>
          <a:p>
            <a:pPr lvl="0" hangingPunct="0">
              <a:spcBef>
                <a:spcPts val="1417"/>
              </a:spcBef>
              <a:buClr>
                <a:srgbClr val="4E67C8">
                  <a:lumMod val="75000"/>
                </a:srgbClr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prstClr val="black">
                    <a:lumMod val="75000"/>
                    <a:lumOff val="25000"/>
                  </a:prstClr>
                </a:solidFill>
                <a:highlight>
                  <a:scrgbClr r="0" g="0" b="0">
                    <a:alpha val="0"/>
                  </a:scrgbClr>
                </a:highlight>
              </a:rPr>
              <a:t>F</a:t>
            </a:r>
            <a:r>
              <a:rPr lang="en-US" sz="2600" dirty="0" smtClean="0">
                <a:solidFill>
                  <a:prstClr val="black">
                    <a:lumMod val="75000"/>
                    <a:lumOff val="25000"/>
                  </a:prstClr>
                </a:solidFill>
                <a:highlight>
                  <a:scrgbClr r="0" g="0" b="0">
                    <a:alpha val="0"/>
                  </a:scrgbClr>
                </a:highlight>
              </a:rPr>
              <a:t>rom Linux or </a:t>
            </a:r>
            <a:r>
              <a:rPr lang="en-US" sz="2600" dirty="0" err="1" smtClean="0">
                <a:solidFill>
                  <a:prstClr val="black">
                    <a:lumMod val="75000"/>
                    <a:lumOff val="25000"/>
                  </a:prstClr>
                </a:solidFill>
                <a:highlight>
                  <a:scrgbClr r="0" g="0" b="0">
                    <a:alpha val="0"/>
                  </a:scrgbClr>
                </a:highlight>
              </a:rPr>
              <a:t>PuTTY</a:t>
            </a:r>
            <a:endParaRPr lang="en-US" sz="2400" dirty="0" smtClean="0">
              <a:solidFill>
                <a:prstClr val="black">
                  <a:lumMod val="75000"/>
                  <a:lumOff val="25000"/>
                </a:prstClr>
              </a:solidFill>
              <a:highlight>
                <a:scrgbClr r="0" g="0" b="0">
                  <a:alpha val="0"/>
                </a:scrgbClr>
              </a:highlight>
            </a:endParaRPr>
          </a:p>
          <a:p>
            <a:pPr lvl="1" hangingPunct="0">
              <a:spcBef>
                <a:spcPts val="1417"/>
              </a:spcBef>
              <a:buClr>
                <a:srgbClr val="4E67C8">
                  <a:lumMod val="75000"/>
                </a:srgbClr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dirty="0" smtClean="0">
                <a:highlight>
                  <a:scrgbClr r="0" g="0" b="0">
                    <a:alpha val="0"/>
                  </a:scrgbClr>
                </a:highlight>
                <a:latin typeface="Monospac821 BT" panose="020B0609020202020204" pitchFamily="49" charset="0"/>
              </a:rPr>
              <a:t>./</a:t>
            </a:r>
            <a:r>
              <a:rPr lang="en-US" dirty="0" err="1" smtClean="0">
                <a:highlight>
                  <a:scrgbClr r="0" g="0" b="0">
                    <a:alpha val="0"/>
                  </a:scrgbClr>
                </a:highlight>
                <a:latin typeface="Monospac821 BT" panose="020B0609020202020204" pitchFamily="49" charset="0"/>
              </a:rPr>
              <a:t>doxygen</a:t>
            </a:r>
            <a:endParaRPr lang="en-US" dirty="0" smtClean="0">
              <a:highlight>
                <a:scrgbClr r="0" g="0" b="0">
                  <a:alpha val="0"/>
                </a:scrgbClr>
              </a:highlight>
              <a:latin typeface="Monospac821 BT" panose="020B0609020202020204" pitchFamily="49" charset="0"/>
            </a:endParaRPr>
          </a:p>
          <a:p>
            <a:pPr lvl="1" hangingPunct="0">
              <a:spcBef>
                <a:spcPts val="1417"/>
              </a:spcBef>
              <a:buClr>
                <a:srgbClr val="4E67C8">
                  <a:lumMod val="75000"/>
                </a:srgbClr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dirty="0" err="1" smtClean="0">
                <a:highlight>
                  <a:scrgbClr r="0" g="0" b="0">
                    <a:alpha val="0"/>
                  </a:scrgbClr>
                </a:highlight>
                <a:latin typeface="Monospac821 BT" panose="020B0609020202020204" pitchFamily="49" charset="0"/>
              </a:rPr>
              <a:t>firefox</a:t>
            </a:r>
            <a:r>
              <a:rPr lang="en-US" dirty="0" smtClean="0">
                <a:highlight>
                  <a:scrgbClr r="0" g="0" b="0">
                    <a:alpha val="0"/>
                  </a:scrgbClr>
                </a:highlight>
                <a:latin typeface="Monospac821 BT" panose="020B0609020202020204" pitchFamily="49" charset="0"/>
              </a:rPr>
              <a:t> html/index.html</a:t>
            </a:r>
          </a:p>
          <a:p>
            <a:pPr lvl="1" hangingPunct="0">
              <a:spcBef>
                <a:spcPts val="1417"/>
              </a:spcBef>
              <a:buClr>
                <a:srgbClr val="4E67C8">
                  <a:lumMod val="75000"/>
                </a:srgbClr>
              </a:buClr>
              <a:buSzPct val="75000"/>
              <a:buFont typeface="Wingdings" panose="05000000000000000000" pitchFamily="2" charset="2"/>
              <a:buChar char="Ø"/>
            </a:pPr>
            <a:endParaRPr lang="en-US" dirty="0" smtClean="0">
              <a:highlight>
                <a:scrgbClr r="0" g="0" b="0">
                  <a:alpha val="0"/>
                </a:scrgbClr>
              </a:highlight>
              <a:latin typeface="Monospac821 BT" panose="020B0609020202020204" pitchFamily="49" charset="0"/>
            </a:endParaRPr>
          </a:p>
          <a:p>
            <a:pPr lvl="1" hangingPunct="0">
              <a:spcBef>
                <a:spcPts val="1417"/>
              </a:spcBef>
              <a:buSzPct val="75000"/>
              <a:buFont typeface="Wingdings" panose="05000000000000000000" pitchFamily="2" charset="2"/>
              <a:buChar char="Ø"/>
            </a:pPr>
            <a:endParaRPr lang="en-US" sz="2600" dirty="0">
              <a:highlight>
                <a:scrgbClr r="0" g="0" b="0">
                  <a:alpha val="0"/>
                </a:scrgbClr>
              </a:highlight>
            </a:endParaRPr>
          </a:p>
          <a:p>
            <a:pPr lvl="1" hangingPunct="0">
              <a:spcBef>
                <a:spcPts val="1417"/>
              </a:spcBef>
              <a:buSzPct val="75000"/>
              <a:buFont typeface="Wingdings" panose="05000000000000000000" pitchFamily="2" charset="2"/>
              <a:buChar char="Ø"/>
            </a:pPr>
            <a:endParaRPr lang="en-US" sz="2600" dirty="0">
              <a:highlight>
                <a:scrgbClr r="0" g="0" b="0">
                  <a:alpha val="0"/>
                </a:scrgbClr>
              </a:highlight>
            </a:endParaRPr>
          </a:p>
          <a:p>
            <a:endParaRPr lang="en-US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208777" y="168166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 smtClean="0"/>
              <a:t>How To Generate Documentation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4294967295"/>
          </p:nvPr>
        </p:nvSpPr>
        <p:spPr>
          <a:xfrm>
            <a:off x="6003634" y="6437868"/>
            <a:ext cx="184731" cy="369332"/>
          </a:xfrm>
        </p:spPr>
        <p:txBody>
          <a:bodyPr/>
          <a:lstStyle/>
          <a:p>
            <a:endParaRPr lang="en-US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9052" y="2345764"/>
            <a:ext cx="3739341" cy="244969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765" y="4071513"/>
            <a:ext cx="4184370" cy="226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603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8777" y="1201889"/>
            <a:ext cx="10346012" cy="5329539"/>
          </a:xfrm>
        </p:spPr>
        <p:txBody>
          <a:bodyPr>
            <a:normAutofit/>
          </a:bodyPr>
          <a:lstStyle/>
          <a:p>
            <a:pPr hangingPunct="0">
              <a:spcBef>
                <a:spcPts val="1417"/>
              </a:spcBef>
              <a:buSzPct val="75000"/>
              <a:buFont typeface="Wingdings" panose="05000000000000000000" pitchFamily="2" charset="2"/>
              <a:buChar char="Ø"/>
            </a:pPr>
            <a:r>
              <a:rPr lang="en-US" sz="3200" dirty="0" smtClean="0">
                <a:highlight>
                  <a:scrgbClr r="0" g="0" b="0">
                    <a:alpha val="0"/>
                  </a:scrgbClr>
                </a:highlight>
              </a:rPr>
              <a:t>Parametric Inputs</a:t>
            </a:r>
          </a:p>
          <a:p>
            <a:pPr lvl="1" hangingPunct="0">
              <a:spcBef>
                <a:spcPts val="1417"/>
              </a:spcBef>
              <a:buSzPct val="75000"/>
              <a:buFont typeface="Wingdings" panose="05000000000000000000" pitchFamily="2" charset="2"/>
              <a:buChar char="Ø"/>
            </a:pPr>
            <a:r>
              <a:rPr lang="en-US" sz="2600" b="1" dirty="0" err="1">
                <a:highlight>
                  <a:scrgbClr r="0" g="0" b="0">
                    <a:alpha val="0"/>
                  </a:scrgbClr>
                </a:highlight>
              </a:rPr>
              <a:t>sim.components</a:t>
            </a:r>
            <a:r>
              <a:rPr lang="en-US" sz="2600" dirty="0">
                <a:highlight>
                  <a:scrgbClr r="0" g="0" b="0">
                    <a:alpha val="0"/>
                  </a:scrgbClr>
                </a:highlight>
              </a:rPr>
              <a:t> – a listing of component </a:t>
            </a:r>
            <a:r>
              <a:rPr lang="en-US" sz="2600" dirty="0" smtClean="0">
                <a:highlight>
                  <a:scrgbClr r="0" g="0" b="0">
                    <a:alpha val="0"/>
                  </a:scrgbClr>
                </a:highlight>
              </a:rPr>
              <a:t>names that are playing that is </a:t>
            </a:r>
            <a:r>
              <a:rPr lang="en-US" sz="2600" dirty="0">
                <a:highlight>
                  <a:scrgbClr r="0" g="0" b="0">
                    <a:alpha val="0"/>
                  </a:scrgbClr>
                </a:highlight>
              </a:rPr>
              <a:t>used by component factory to build components</a:t>
            </a:r>
          </a:p>
          <a:p>
            <a:pPr lvl="1" hangingPunct="0">
              <a:spcBef>
                <a:spcPts val="1417"/>
              </a:spcBef>
              <a:buSzPct val="75000"/>
              <a:buFont typeface="Wingdings" panose="05000000000000000000" pitchFamily="2" charset="2"/>
              <a:buChar char="Ø"/>
            </a:pPr>
            <a:r>
              <a:rPr lang="en-US" sz="2600" b="1" dirty="0">
                <a:highlight>
                  <a:scrgbClr r="0" g="0" b="0">
                    <a:alpha val="0"/>
                  </a:scrgbClr>
                </a:highlight>
              </a:rPr>
              <a:t>&lt;</a:t>
            </a:r>
            <a:r>
              <a:rPr lang="en-US" sz="2600" b="1" dirty="0" err="1">
                <a:highlight>
                  <a:scrgbClr r="0" g="0" b="0">
                    <a:alpha val="0"/>
                  </a:scrgbClr>
                </a:highlight>
              </a:rPr>
              <a:t>component_name</a:t>
            </a:r>
            <a:r>
              <a:rPr lang="en-US" sz="2600" b="1" dirty="0">
                <a:highlight>
                  <a:scrgbClr r="0" g="0" b="0">
                    <a:alpha val="0"/>
                  </a:scrgbClr>
                </a:highlight>
              </a:rPr>
              <a:t>&gt;.sub </a:t>
            </a:r>
            <a:r>
              <a:rPr lang="en-US" sz="2600" dirty="0">
                <a:highlight>
                  <a:scrgbClr r="0" g="0" b="0">
                    <a:alpha val="0"/>
                  </a:scrgbClr>
                </a:highlight>
              </a:rPr>
              <a:t>– each component has a list of topics it subscribes to</a:t>
            </a:r>
          </a:p>
          <a:p>
            <a:pPr lvl="1" hangingPunct="0">
              <a:spcBef>
                <a:spcPts val="1417"/>
              </a:spcBef>
              <a:buSzPct val="75000"/>
              <a:buFont typeface="Wingdings" panose="05000000000000000000" pitchFamily="2" charset="2"/>
              <a:buChar char="Ø"/>
            </a:pPr>
            <a:r>
              <a:rPr lang="en-US" sz="2600" b="1" dirty="0">
                <a:highlight>
                  <a:scrgbClr r="0" g="0" b="0">
                    <a:alpha val="0"/>
                  </a:scrgbClr>
                </a:highlight>
              </a:rPr>
              <a:t>&lt;</a:t>
            </a:r>
            <a:r>
              <a:rPr lang="en-US" sz="2600" b="1" dirty="0" err="1">
                <a:highlight>
                  <a:scrgbClr r="0" g="0" b="0">
                    <a:alpha val="0"/>
                  </a:scrgbClr>
                </a:highlight>
              </a:rPr>
              <a:t>component_name</a:t>
            </a:r>
            <a:r>
              <a:rPr lang="en-US" sz="2600" b="1" dirty="0">
                <a:highlight>
                  <a:scrgbClr r="0" g="0" b="0">
                    <a:alpha val="0"/>
                  </a:scrgbClr>
                </a:highlight>
              </a:rPr>
              <a:t>&gt;.timing </a:t>
            </a:r>
            <a:r>
              <a:rPr lang="en-US" sz="2600" dirty="0">
                <a:highlight>
                  <a:scrgbClr r="0" g="0" b="0">
                    <a:alpha val="0"/>
                  </a:scrgbClr>
                </a:highlight>
              </a:rPr>
              <a:t>– each component adds a timing offset to messages it sends</a:t>
            </a:r>
          </a:p>
          <a:p>
            <a:pPr lvl="1" hangingPunct="0">
              <a:spcBef>
                <a:spcPts val="1417"/>
              </a:spcBef>
              <a:buSzPct val="75000"/>
              <a:buFont typeface="Wingdings" panose="05000000000000000000" pitchFamily="2" charset="2"/>
              <a:buChar char="Ø"/>
            </a:pPr>
            <a:r>
              <a:rPr lang="en-US" sz="2600" b="1" dirty="0">
                <a:highlight>
                  <a:scrgbClr r="0" g="0" b="0">
                    <a:alpha val="0"/>
                  </a:scrgbClr>
                </a:highlight>
              </a:rPr>
              <a:t>&lt;</a:t>
            </a:r>
            <a:r>
              <a:rPr lang="en-US" sz="2600" b="1" dirty="0" err="1">
                <a:highlight>
                  <a:scrgbClr r="0" g="0" b="0">
                    <a:alpha val="0"/>
                  </a:scrgbClr>
                </a:highlight>
              </a:rPr>
              <a:t>component_name</a:t>
            </a:r>
            <a:r>
              <a:rPr lang="en-US" sz="2600" b="1" dirty="0">
                <a:highlight>
                  <a:scrgbClr r="0" g="0" b="0">
                    <a:alpha val="0"/>
                  </a:scrgbClr>
                </a:highlight>
              </a:rPr>
              <a:t>&gt;.lines </a:t>
            </a:r>
            <a:r>
              <a:rPr lang="en-US" sz="2600" dirty="0">
                <a:highlight>
                  <a:scrgbClr r="0" g="0" b="0">
                    <a:alpha val="0"/>
                  </a:scrgbClr>
                </a:highlight>
              </a:rPr>
              <a:t>– each component reads and stores its script</a:t>
            </a:r>
          </a:p>
          <a:p>
            <a:pPr lvl="1" hangingPunct="0">
              <a:spcBef>
                <a:spcPts val="1417"/>
              </a:spcBef>
              <a:buSzPct val="75000"/>
              <a:buFont typeface="Wingdings" panose="05000000000000000000" pitchFamily="2" charset="2"/>
              <a:buChar char="Ø"/>
            </a:pPr>
            <a:endParaRPr lang="en-US" sz="2600" dirty="0">
              <a:highlight>
                <a:scrgbClr r="0" g="0" b="0">
                  <a:alpha val="0"/>
                </a:scrgbClr>
              </a:highlight>
            </a:endParaRPr>
          </a:p>
          <a:p>
            <a:endParaRPr lang="en-US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208777" y="168166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 err="1" smtClean="0"/>
              <a:t>WOFSim</a:t>
            </a:r>
            <a:r>
              <a:rPr lang="en-US" dirty="0"/>
              <a:t> </a:t>
            </a:r>
            <a:r>
              <a:rPr lang="en-US" dirty="0" smtClean="0"/>
              <a:t>Teardown - Inputs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4294967295"/>
          </p:nvPr>
        </p:nvSpPr>
        <p:spPr>
          <a:xfrm>
            <a:off x="6003634" y="6437868"/>
            <a:ext cx="184731" cy="369332"/>
          </a:xfrm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533843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8777" y="1201889"/>
            <a:ext cx="10346012" cy="5329539"/>
          </a:xfrm>
        </p:spPr>
        <p:txBody>
          <a:bodyPr>
            <a:normAutofit/>
          </a:bodyPr>
          <a:lstStyle/>
          <a:p>
            <a:pPr hangingPunct="0">
              <a:spcBef>
                <a:spcPts val="1417"/>
              </a:spcBef>
              <a:buSzPct val="75000"/>
              <a:buFont typeface="Wingdings" panose="05000000000000000000" pitchFamily="2" charset="2"/>
              <a:buChar char="Ø"/>
            </a:pPr>
            <a:r>
              <a:rPr lang="en-US" sz="3200" dirty="0" smtClean="0">
                <a:highlight>
                  <a:scrgbClr r="0" g="0" b="0">
                    <a:alpha val="0"/>
                  </a:scrgbClr>
                </a:highlight>
              </a:rPr>
              <a:t>Component</a:t>
            </a:r>
            <a:endParaRPr lang="en-US" sz="2600" dirty="0">
              <a:highlight>
                <a:scrgbClr r="0" g="0" b="0">
                  <a:alpha val="0"/>
                </a:scrgbClr>
              </a:highlight>
            </a:endParaRPr>
          </a:p>
          <a:p>
            <a:endParaRPr lang="en-US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208777" y="168166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 err="1" smtClean="0"/>
              <a:t>WOFSim</a:t>
            </a:r>
            <a:r>
              <a:rPr lang="en-US" dirty="0" smtClean="0"/>
              <a:t> Teardown - Classes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4294967295"/>
          </p:nvPr>
        </p:nvSpPr>
        <p:spPr>
          <a:xfrm>
            <a:off x="6003634" y="6437868"/>
            <a:ext cx="184731" cy="369332"/>
          </a:xfrm>
        </p:spPr>
        <p:txBody>
          <a:bodyPr/>
          <a:lstStyle/>
          <a:p>
            <a:endParaRPr lang="en-US" smtClean="0"/>
          </a:p>
        </p:txBody>
      </p:sp>
      <p:pic>
        <p:nvPicPr>
          <p:cNvPr id="2050" name="Picture 2" descr="Inheritance graph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7234" y="1058778"/>
            <a:ext cx="3986772" cy="5403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4963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8777" y="1201889"/>
            <a:ext cx="10346012" cy="5329539"/>
          </a:xfrm>
        </p:spPr>
        <p:txBody>
          <a:bodyPr>
            <a:normAutofit/>
          </a:bodyPr>
          <a:lstStyle/>
          <a:p>
            <a:pPr hangingPunct="0">
              <a:spcBef>
                <a:spcPts val="1417"/>
              </a:spcBef>
              <a:buSzPct val="75000"/>
              <a:buFont typeface="Wingdings" panose="05000000000000000000" pitchFamily="2" charset="2"/>
              <a:buChar char="Ø"/>
            </a:pPr>
            <a:r>
              <a:rPr lang="en-US" sz="3200" dirty="0" smtClean="0">
                <a:highlight>
                  <a:scrgbClr r="0" g="0" b="0">
                    <a:alpha val="0"/>
                  </a:scrgbClr>
                </a:highlight>
              </a:rPr>
              <a:t>Component Factory</a:t>
            </a:r>
            <a:endParaRPr lang="en-US" sz="2600" dirty="0">
              <a:highlight>
                <a:scrgbClr r="0" g="0" b="0">
                  <a:alpha val="0"/>
                </a:scrgbClr>
              </a:highlight>
            </a:endParaRPr>
          </a:p>
          <a:p>
            <a:endParaRPr lang="en-US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208777" y="168166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 err="1"/>
              <a:t>WOFSim</a:t>
            </a:r>
            <a:r>
              <a:rPr lang="en-US" dirty="0"/>
              <a:t> Teardown - Classes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4294967295"/>
          </p:nvPr>
        </p:nvSpPr>
        <p:spPr>
          <a:xfrm>
            <a:off x="6003634" y="6437868"/>
            <a:ext cx="184731" cy="369332"/>
          </a:xfrm>
        </p:spPr>
        <p:txBody>
          <a:bodyPr/>
          <a:lstStyle/>
          <a:p>
            <a:endParaRPr lang="en-US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4613" y="2675844"/>
            <a:ext cx="3498042" cy="2379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576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8777" y="1201889"/>
            <a:ext cx="10346012" cy="5329539"/>
          </a:xfrm>
        </p:spPr>
        <p:txBody>
          <a:bodyPr>
            <a:normAutofit/>
          </a:bodyPr>
          <a:lstStyle/>
          <a:p>
            <a:pPr hangingPunct="0">
              <a:spcBef>
                <a:spcPts val="1417"/>
              </a:spcBef>
              <a:buSzPct val="75000"/>
              <a:buFont typeface="Wingdings" panose="05000000000000000000" pitchFamily="2" charset="2"/>
              <a:buChar char="Ø"/>
            </a:pPr>
            <a:r>
              <a:rPr lang="en-US" sz="3200" dirty="0" smtClean="0">
                <a:highlight>
                  <a:scrgbClr r="0" g="0" b="0">
                    <a:alpha val="0"/>
                  </a:scrgbClr>
                </a:highlight>
              </a:rPr>
              <a:t>Message</a:t>
            </a:r>
            <a:endParaRPr lang="en-US" sz="2600" dirty="0">
              <a:highlight>
                <a:scrgbClr r="0" g="0" b="0">
                  <a:alpha val="0"/>
                </a:scrgbClr>
              </a:highlight>
            </a:endParaRPr>
          </a:p>
          <a:p>
            <a:endParaRPr lang="en-US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208777" y="168166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 err="1"/>
              <a:t>WOFSim</a:t>
            </a:r>
            <a:r>
              <a:rPr lang="en-US" dirty="0"/>
              <a:t> Teardown - Classes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4294967295"/>
          </p:nvPr>
        </p:nvSpPr>
        <p:spPr>
          <a:xfrm>
            <a:off x="6003634" y="6437868"/>
            <a:ext cx="184731" cy="369332"/>
          </a:xfrm>
        </p:spPr>
        <p:txBody>
          <a:bodyPr/>
          <a:lstStyle/>
          <a:p>
            <a:endParaRPr lang="en-US" smtClean="0"/>
          </a:p>
        </p:txBody>
      </p:sp>
      <p:pic>
        <p:nvPicPr>
          <p:cNvPr id="4098" name="Picture 2" descr="Inheritance graph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8005" y="1058198"/>
            <a:ext cx="4311257" cy="5326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6914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8777" y="1201889"/>
            <a:ext cx="10346012" cy="5329539"/>
          </a:xfrm>
        </p:spPr>
        <p:txBody>
          <a:bodyPr>
            <a:normAutofit/>
          </a:bodyPr>
          <a:lstStyle/>
          <a:p>
            <a:pPr hangingPunct="0">
              <a:spcBef>
                <a:spcPts val="1417"/>
              </a:spcBef>
              <a:buSzPct val="75000"/>
              <a:buFont typeface="Wingdings" panose="05000000000000000000" pitchFamily="2" charset="2"/>
              <a:buChar char="Ø"/>
            </a:pPr>
            <a:r>
              <a:rPr lang="en-US" sz="3200" dirty="0" err="1" smtClean="0">
                <a:highlight>
                  <a:scrgbClr r="0" g="0" b="0">
                    <a:alpha val="0"/>
                  </a:scrgbClr>
                </a:highlight>
              </a:rPr>
              <a:t>MessageQueue</a:t>
            </a:r>
            <a:endParaRPr lang="en-US" sz="2600" dirty="0">
              <a:highlight>
                <a:scrgbClr r="0" g="0" b="0">
                  <a:alpha val="0"/>
                </a:scrgbClr>
              </a:highlight>
            </a:endParaRPr>
          </a:p>
          <a:p>
            <a:endParaRPr lang="en-US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208777" y="168166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 err="1"/>
              <a:t>WOFSim</a:t>
            </a:r>
            <a:r>
              <a:rPr lang="en-US" dirty="0"/>
              <a:t> Teardown - Classes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4294967295"/>
          </p:nvPr>
        </p:nvSpPr>
        <p:spPr>
          <a:xfrm>
            <a:off x="6003634" y="6437868"/>
            <a:ext cx="184731" cy="369332"/>
          </a:xfrm>
        </p:spPr>
        <p:txBody>
          <a:bodyPr/>
          <a:lstStyle/>
          <a:p>
            <a:endParaRPr lang="en-US" smtClean="0"/>
          </a:p>
        </p:txBody>
      </p:sp>
      <p:sp>
        <p:nvSpPr>
          <p:cNvPr id="4" name="AutoShape 4" descr="Collaboration graph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0816" y="2245586"/>
            <a:ext cx="4205051" cy="2809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461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8777" y="1201889"/>
            <a:ext cx="10346012" cy="5329539"/>
          </a:xfrm>
        </p:spPr>
        <p:txBody>
          <a:bodyPr>
            <a:normAutofit/>
          </a:bodyPr>
          <a:lstStyle/>
          <a:p>
            <a:pPr hangingPunct="0">
              <a:spcBef>
                <a:spcPts val="1417"/>
              </a:spcBef>
              <a:buSzPct val="75000"/>
              <a:buFont typeface="Wingdings" panose="05000000000000000000" pitchFamily="2" charset="2"/>
              <a:buChar char="Ø"/>
            </a:pPr>
            <a:r>
              <a:rPr lang="en-US" sz="3200" dirty="0" smtClean="0">
                <a:highlight>
                  <a:scrgbClr r="0" g="0" b="0">
                    <a:alpha val="0"/>
                  </a:scrgbClr>
                </a:highlight>
              </a:rPr>
              <a:t>Engine</a:t>
            </a:r>
            <a:endParaRPr lang="en-US" sz="2600" dirty="0">
              <a:highlight>
                <a:scrgbClr r="0" g="0" b="0">
                  <a:alpha val="0"/>
                </a:scrgbClr>
              </a:highlight>
            </a:endParaRPr>
          </a:p>
          <a:p>
            <a:endParaRPr lang="en-US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208777" y="168166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 err="1"/>
              <a:t>WOFSim</a:t>
            </a:r>
            <a:r>
              <a:rPr lang="en-US" dirty="0"/>
              <a:t> Teardown - Classes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4294967295"/>
          </p:nvPr>
        </p:nvSpPr>
        <p:spPr>
          <a:xfrm>
            <a:off x="6003634" y="6437868"/>
            <a:ext cx="184731" cy="369332"/>
          </a:xfrm>
        </p:spPr>
        <p:txBody>
          <a:bodyPr/>
          <a:lstStyle/>
          <a:p>
            <a:endParaRPr lang="en-US" smtClean="0"/>
          </a:p>
        </p:txBody>
      </p:sp>
      <p:pic>
        <p:nvPicPr>
          <p:cNvPr id="6146" name="Picture 2" descr="Collaboration graph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3464" y="2188344"/>
            <a:ext cx="3613622" cy="3180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468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08777" y="168166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 err="1" smtClean="0"/>
              <a:t>WOFSim</a:t>
            </a:r>
            <a:r>
              <a:rPr lang="en-US" dirty="0"/>
              <a:t> </a:t>
            </a:r>
            <a:r>
              <a:rPr lang="en-US" dirty="0" smtClean="0"/>
              <a:t>Teardown – Sequence Diagrams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4294967295"/>
          </p:nvPr>
        </p:nvSpPr>
        <p:spPr>
          <a:xfrm>
            <a:off x="6003634" y="6437868"/>
            <a:ext cx="184731" cy="369332"/>
          </a:xfrm>
        </p:spPr>
        <p:txBody>
          <a:bodyPr/>
          <a:lstStyle/>
          <a:p>
            <a:endParaRPr lang="en-US" smtClean="0"/>
          </a:p>
        </p:txBody>
      </p:sp>
      <p:sp>
        <p:nvSpPr>
          <p:cNvPr id="4" name="Rectangle 3"/>
          <p:cNvSpPr/>
          <p:nvPr/>
        </p:nvSpPr>
        <p:spPr>
          <a:xfrm>
            <a:off x="1414995" y="1017029"/>
            <a:ext cx="1267098" cy="75764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Main</a:t>
            </a:r>
            <a:endParaRPr lang="en-US" b="1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048544" y="1794995"/>
            <a:ext cx="0" cy="4833457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965538" y="1017029"/>
            <a:ext cx="1433136" cy="75764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 smtClean="0"/>
              <a:t>ComponentFactory</a:t>
            </a:r>
            <a:endParaRPr lang="en-US" b="1" dirty="0"/>
          </a:p>
        </p:txBody>
      </p:sp>
      <p:cxnSp>
        <p:nvCxnSpPr>
          <p:cNvPr id="11" name="Straight Connector 10"/>
          <p:cNvCxnSpPr/>
          <p:nvPr/>
        </p:nvCxnSpPr>
        <p:spPr>
          <a:xfrm flipH="1">
            <a:off x="4676356" y="1794995"/>
            <a:ext cx="5750" cy="4837811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6516080" y="1017029"/>
            <a:ext cx="1267098" cy="75764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Engine</a:t>
            </a:r>
            <a:endParaRPr lang="en-US" b="1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7149629" y="1794995"/>
            <a:ext cx="0" cy="4833457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900584" y="1017029"/>
            <a:ext cx="1506011" cy="75764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Component</a:t>
            </a:r>
            <a:endParaRPr lang="en-US" b="1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700170" y="1794995"/>
            <a:ext cx="0" cy="4833457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2048544" y="2817123"/>
            <a:ext cx="2627812" cy="0"/>
          </a:xfrm>
          <a:prstGeom prst="straightConnector1">
            <a:avLst/>
          </a:prstGeom>
          <a:ln w="25400">
            <a:solidFill>
              <a:schemeClr val="accent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507833" y="2478787"/>
            <a:ext cx="20392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 smtClean="0"/>
              <a:t>buildComponent</a:t>
            </a:r>
            <a:r>
              <a:rPr lang="en-US" sz="1400" dirty="0" smtClean="0"/>
              <a:t>()</a:t>
            </a:r>
            <a:endParaRPr lang="en-US" dirty="0"/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2048544" y="3248492"/>
            <a:ext cx="2627812" cy="0"/>
          </a:xfrm>
          <a:prstGeom prst="straightConnector1">
            <a:avLst/>
          </a:prstGeom>
          <a:ln w="25400">
            <a:solidFill>
              <a:schemeClr val="accent3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507832" y="2956649"/>
            <a:ext cx="20392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return component</a:t>
            </a:r>
            <a:endParaRPr lang="en-US" dirty="0"/>
          </a:p>
        </p:txBody>
      </p:sp>
      <p:cxnSp>
        <p:nvCxnSpPr>
          <p:cNvPr id="27" name="Straight Arrow Connector 26"/>
          <p:cNvCxnSpPr/>
          <p:nvPr/>
        </p:nvCxnSpPr>
        <p:spPr>
          <a:xfrm flipV="1">
            <a:off x="2064042" y="3672974"/>
            <a:ext cx="5101085" cy="15498"/>
          </a:xfrm>
          <a:prstGeom prst="straightConnector1">
            <a:avLst/>
          </a:prstGeom>
          <a:ln w="25400">
            <a:solidFill>
              <a:schemeClr val="accent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815513" y="3380695"/>
            <a:ext cx="20392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initialize()</a:t>
            </a:r>
            <a:endParaRPr lang="en-US" dirty="0"/>
          </a:p>
        </p:txBody>
      </p:sp>
      <p:sp>
        <p:nvSpPr>
          <p:cNvPr id="31" name="Curved Right Arrow 30"/>
          <p:cNvSpPr/>
          <p:nvPr/>
        </p:nvSpPr>
        <p:spPr>
          <a:xfrm>
            <a:off x="1534333" y="1983659"/>
            <a:ext cx="514211" cy="649016"/>
          </a:xfrm>
          <a:prstGeom prst="curvedRightArrow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20255" y="1963339"/>
            <a:ext cx="13616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/>
              <a:t>Read </a:t>
            </a:r>
            <a:r>
              <a:rPr lang="en-US" sz="1200" dirty="0" err="1" smtClean="0"/>
              <a:t>sim.components</a:t>
            </a:r>
            <a:endParaRPr lang="en-US" sz="1200" dirty="0"/>
          </a:p>
        </p:txBody>
      </p:sp>
      <p:sp>
        <p:nvSpPr>
          <p:cNvPr id="33" name="Curved Right Arrow 32"/>
          <p:cNvSpPr/>
          <p:nvPr/>
        </p:nvSpPr>
        <p:spPr>
          <a:xfrm>
            <a:off x="6619921" y="3854340"/>
            <a:ext cx="514211" cy="649016"/>
          </a:xfrm>
          <a:prstGeom prst="curvedRightArrow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322787" y="3995375"/>
            <a:ext cx="13616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/>
              <a:t>Read </a:t>
            </a:r>
            <a:r>
              <a:rPr lang="en-US" sz="1200" dirty="0" err="1" smtClean="0"/>
              <a:t>sim.timing</a:t>
            </a:r>
            <a:endParaRPr lang="en-US" sz="1200" dirty="0"/>
          </a:p>
        </p:txBody>
      </p:sp>
      <p:cxnSp>
        <p:nvCxnSpPr>
          <p:cNvPr id="35" name="Straight Arrow Connector 34"/>
          <p:cNvCxnSpPr/>
          <p:nvPr/>
        </p:nvCxnSpPr>
        <p:spPr>
          <a:xfrm flipV="1">
            <a:off x="2080428" y="4661035"/>
            <a:ext cx="7619742" cy="17491"/>
          </a:xfrm>
          <a:prstGeom prst="straightConnector1">
            <a:avLst/>
          </a:prstGeom>
          <a:ln w="25400">
            <a:solidFill>
              <a:schemeClr val="accent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831899" y="4370749"/>
            <a:ext cx="20392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initialize()</a:t>
            </a:r>
            <a:endParaRPr lang="en-US" dirty="0"/>
          </a:p>
        </p:txBody>
      </p:sp>
      <p:sp>
        <p:nvSpPr>
          <p:cNvPr id="38" name="Curved Right Arrow 37"/>
          <p:cNvSpPr/>
          <p:nvPr/>
        </p:nvSpPr>
        <p:spPr>
          <a:xfrm>
            <a:off x="9159519" y="4742679"/>
            <a:ext cx="514211" cy="649016"/>
          </a:xfrm>
          <a:prstGeom prst="curvedRightArrow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751577" y="4864810"/>
            <a:ext cx="14518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/>
              <a:t>Read subscriptions</a:t>
            </a:r>
            <a:endParaRPr lang="en-US" sz="1200" dirty="0"/>
          </a:p>
        </p:txBody>
      </p:sp>
      <p:sp>
        <p:nvSpPr>
          <p:cNvPr id="40" name="TextBox 39"/>
          <p:cNvSpPr txBox="1"/>
          <p:nvPr/>
        </p:nvSpPr>
        <p:spPr>
          <a:xfrm>
            <a:off x="7772235" y="5052815"/>
            <a:ext cx="14518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/>
              <a:t>Read lines</a:t>
            </a:r>
            <a:endParaRPr lang="en-US" sz="1200" dirty="0"/>
          </a:p>
        </p:txBody>
      </p:sp>
      <p:cxnSp>
        <p:nvCxnSpPr>
          <p:cNvPr id="41" name="Straight Arrow Connector 40"/>
          <p:cNvCxnSpPr/>
          <p:nvPr/>
        </p:nvCxnSpPr>
        <p:spPr>
          <a:xfrm flipV="1">
            <a:off x="2080428" y="5605454"/>
            <a:ext cx="5101085" cy="15498"/>
          </a:xfrm>
          <a:prstGeom prst="straightConnector1">
            <a:avLst/>
          </a:prstGeom>
          <a:ln w="25400">
            <a:solidFill>
              <a:schemeClr val="accent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549534" y="5297677"/>
            <a:ext cx="20392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 smtClean="0"/>
              <a:t>registerComponent</a:t>
            </a:r>
            <a:r>
              <a:rPr lang="en-US" sz="1400" dirty="0" smtClean="0"/>
              <a:t>()</a:t>
            </a:r>
            <a:endParaRPr lang="en-US" dirty="0"/>
          </a:p>
        </p:txBody>
      </p:sp>
      <p:cxnSp>
        <p:nvCxnSpPr>
          <p:cNvPr id="43" name="Straight Arrow Connector 42"/>
          <p:cNvCxnSpPr/>
          <p:nvPr/>
        </p:nvCxnSpPr>
        <p:spPr>
          <a:xfrm flipV="1">
            <a:off x="2048544" y="6533301"/>
            <a:ext cx="5101085" cy="15498"/>
          </a:xfrm>
          <a:prstGeom prst="straightConnector1">
            <a:avLst/>
          </a:prstGeom>
          <a:ln w="25400">
            <a:solidFill>
              <a:schemeClr val="accent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2937039" y="6256520"/>
            <a:ext cx="20392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execute()</a:t>
            </a:r>
            <a:endParaRPr lang="en-US" dirty="0"/>
          </a:p>
        </p:txBody>
      </p:sp>
      <p:cxnSp>
        <p:nvCxnSpPr>
          <p:cNvPr id="45" name="Straight Arrow Connector 44"/>
          <p:cNvCxnSpPr/>
          <p:nvPr/>
        </p:nvCxnSpPr>
        <p:spPr>
          <a:xfrm>
            <a:off x="7165127" y="6348874"/>
            <a:ext cx="2535043" cy="0"/>
          </a:xfrm>
          <a:prstGeom prst="straightConnector1">
            <a:avLst/>
          </a:prstGeom>
          <a:ln w="25400">
            <a:solidFill>
              <a:schemeClr val="accent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7627241" y="6015179"/>
            <a:ext cx="20392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 smtClean="0"/>
              <a:t>setComedicDelay</a:t>
            </a:r>
            <a:r>
              <a:rPr lang="en-US" sz="1400" dirty="0" smtClean="0"/>
              <a:t>()</a:t>
            </a:r>
            <a:endParaRPr lang="en-US" dirty="0"/>
          </a:p>
        </p:txBody>
      </p:sp>
      <p:sp>
        <p:nvSpPr>
          <p:cNvPr id="48" name="Curved Right Arrow 47"/>
          <p:cNvSpPr/>
          <p:nvPr/>
        </p:nvSpPr>
        <p:spPr>
          <a:xfrm>
            <a:off x="6601720" y="5668876"/>
            <a:ext cx="514211" cy="649016"/>
          </a:xfrm>
          <a:prstGeom prst="curvedRightArrow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318926" y="5733099"/>
            <a:ext cx="13616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/>
              <a:t>Map Components To Subscriptions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278868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08777" y="168166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 err="1" smtClean="0"/>
              <a:t>WOFSim</a:t>
            </a:r>
            <a:r>
              <a:rPr lang="en-US" dirty="0"/>
              <a:t> </a:t>
            </a:r>
            <a:r>
              <a:rPr lang="en-US" dirty="0" smtClean="0"/>
              <a:t>Teardown – Sequence Diagrams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4294967295"/>
          </p:nvPr>
        </p:nvSpPr>
        <p:spPr>
          <a:xfrm>
            <a:off x="6003634" y="6437868"/>
            <a:ext cx="184731" cy="369332"/>
          </a:xfrm>
        </p:spPr>
        <p:txBody>
          <a:bodyPr/>
          <a:lstStyle/>
          <a:p>
            <a:endParaRPr lang="en-US" smtClean="0"/>
          </a:p>
        </p:txBody>
      </p:sp>
      <p:sp>
        <p:nvSpPr>
          <p:cNvPr id="4" name="Rectangle 3"/>
          <p:cNvSpPr/>
          <p:nvPr/>
        </p:nvSpPr>
        <p:spPr>
          <a:xfrm>
            <a:off x="1242632" y="1017029"/>
            <a:ext cx="1611824" cy="75764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Component A</a:t>
            </a:r>
            <a:endParaRPr lang="en-US" b="1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048544" y="1794995"/>
            <a:ext cx="0" cy="4833457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702901" y="1017029"/>
            <a:ext cx="1797803" cy="75764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 smtClean="0"/>
              <a:t>MessageQueue</a:t>
            </a:r>
            <a:endParaRPr lang="en-US" b="1" dirty="0"/>
          </a:p>
        </p:txBody>
      </p:sp>
      <p:cxnSp>
        <p:nvCxnSpPr>
          <p:cNvPr id="11" name="Straight Connector 10"/>
          <p:cNvCxnSpPr/>
          <p:nvPr/>
        </p:nvCxnSpPr>
        <p:spPr>
          <a:xfrm flipH="1">
            <a:off x="4566674" y="1794995"/>
            <a:ext cx="5750" cy="4837811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8785306" y="1014221"/>
            <a:ext cx="1267098" cy="75764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Engine</a:t>
            </a:r>
            <a:endParaRPr lang="en-US" b="1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9418855" y="1792187"/>
            <a:ext cx="0" cy="4833457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 flipV="1">
            <a:off x="2048544" y="2291071"/>
            <a:ext cx="2518130" cy="29655"/>
          </a:xfrm>
          <a:prstGeom prst="straightConnector1">
            <a:avLst/>
          </a:prstGeom>
          <a:ln w="25400">
            <a:solidFill>
              <a:schemeClr val="accent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2827925" y="1995162"/>
            <a:ext cx="20392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 smtClean="0"/>
              <a:t>pushMessage</a:t>
            </a:r>
            <a:r>
              <a:rPr lang="en-US" sz="1400" dirty="0" smtClean="0"/>
              <a:t>()</a:t>
            </a:r>
            <a:endParaRPr lang="en-US" dirty="0"/>
          </a:p>
        </p:txBody>
      </p:sp>
      <p:sp>
        <p:nvSpPr>
          <p:cNvPr id="46" name="Curved Right Arrow 45"/>
          <p:cNvSpPr/>
          <p:nvPr/>
        </p:nvSpPr>
        <p:spPr>
          <a:xfrm>
            <a:off x="4041706" y="2392720"/>
            <a:ext cx="514211" cy="649016"/>
          </a:xfrm>
          <a:prstGeom prst="curvedRightArrow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2937117" y="2578728"/>
            <a:ext cx="13616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/>
              <a:t>Instance()</a:t>
            </a:r>
            <a:endParaRPr lang="en-US" sz="1200" dirty="0"/>
          </a:p>
        </p:txBody>
      </p:sp>
      <p:sp>
        <p:nvSpPr>
          <p:cNvPr id="48" name="Curved Right Arrow 47"/>
          <p:cNvSpPr/>
          <p:nvPr/>
        </p:nvSpPr>
        <p:spPr>
          <a:xfrm>
            <a:off x="8904644" y="2760374"/>
            <a:ext cx="514211" cy="649016"/>
          </a:xfrm>
          <a:prstGeom prst="curvedRightArrow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647294" y="2760012"/>
            <a:ext cx="16141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/>
              <a:t>execute()</a:t>
            </a:r>
          </a:p>
          <a:p>
            <a:pPr algn="ctr"/>
            <a:r>
              <a:rPr lang="en-US" sz="1200" dirty="0" smtClean="0"/>
              <a:t>Check </a:t>
            </a:r>
            <a:r>
              <a:rPr lang="en-US" sz="1200" dirty="0" err="1" smtClean="0"/>
              <a:t>MessageQueue</a:t>
            </a:r>
            <a:endParaRPr lang="en-US" sz="1200" dirty="0" smtClean="0"/>
          </a:p>
        </p:txBody>
      </p:sp>
      <p:sp>
        <p:nvSpPr>
          <p:cNvPr id="51" name="Rectangle 50"/>
          <p:cNvSpPr/>
          <p:nvPr/>
        </p:nvSpPr>
        <p:spPr>
          <a:xfrm>
            <a:off x="6337093" y="1014221"/>
            <a:ext cx="1611824" cy="75764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Component B</a:t>
            </a:r>
            <a:endParaRPr lang="en-US" b="1" dirty="0"/>
          </a:p>
        </p:txBody>
      </p:sp>
      <p:cxnSp>
        <p:nvCxnSpPr>
          <p:cNvPr id="52" name="Straight Connector 51"/>
          <p:cNvCxnSpPr/>
          <p:nvPr/>
        </p:nvCxnSpPr>
        <p:spPr>
          <a:xfrm>
            <a:off x="7143005" y="1792187"/>
            <a:ext cx="0" cy="4833457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 flipV="1">
            <a:off x="4583181" y="3901186"/>
            <a:ext cx="4846658" cy="7792"/>
          </a:xfrm>
          <a:prstGeom prst="straightConnector1">
            <a:avLst/>
          </a:prstGeom>
          <a:ln w="25400">
            <a:solidFill>
              <a:schemeClr val="accent3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7765690" y="3593047"/>
            <a:ext cx="20392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 smtClean="0"/>
              <a:t>popMessage</a:t>
            </a:r>
            <a:r>
              <a:rPr lang="en-US" sz="1400" dirty="0" smtClean="0"/>
              <a:t>()</a:t>
            </a:r>
            <a:endParaRPr lang="en-US" dirty="0"/>
          </a:p>
        </p:txBody>
      </p:sp>
      <p:sp>
        <p:nvSpPr>
          <p:cNvPr id="55" name="Curved Right Arrow 54"/>
          <p:cNvSpPr/>
          <p:nvPr/>
        </p:nvSpPr>
        <p:spPr>
          <a:xfrm>
            <a:off x="8893661" y="4169398"/>
            <a:ext cx="514211" cy="649016"/>
          </a:xfrm>
          <a:prstGeom prst="curvedRightArrow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7536655" y="4237185"/>
            <a:ext cx="1614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/>
              <a:t>Check timing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47638" y="4440090"/>
            <a:ext cx="1614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/>
              <a:t>Sleep</a:t>
            </a:r>
          </a:p>
        </p:txBody>
      </p:sp>
      <p:cxnSp>
        <p:nvCxnSpPr>
          <p:cNvPr id="58" name="Straight Arrow Connector 57"/>
          <p:cNvCxnSpPr/>
          <p:nvPr/>
        </p:nvCxnSpPr>
        <p:spPr>
          <a:xfrm flipV="1">
            <a:off x="7154750" y="5434928"/>
            <a:ext cx="2275089" cy="7792"/>
          </a:xfrm>
          <a:prstGeom prst="straightConnector1">
            <a:avLst/>
          </a:prstGeom>
          <a:ln w="25400">
            <a:solidFill>
              <a:schemeClr val="accent3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7133080" y="5099483"/>
            <a:ext cx="24432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 smtClean="0"/>
              <a:t>sendMessageToSubscribers</a:t>
            </a:r>
            <a:r>
              <a:rPr lang="en-US" sz="1400" dirty="0" smtClean="0"/>
              <a:t>()</a:t>
            </a:r>
            <a:endParaRPr lang="en-US" dirty="0"/>
          </a:p>
        </p:txBody>
      </p:sp>
      <p:sp>
        <p:nvSpPr>
          <p:cNvPr id="60" name="Curved Right Arrow 59"/>
          <p:cNvSpPr/>
          <p:nvPr/>
        </p:nvSpPr>
        <p:spPr>
          <a:xfrm>
            <a:off x="6591168" y="5570844"/>
            <a:ext cx="514211" cy="649016"/>
          </a:xfrm>
          <a:prstGeom prst="curvedRightArrow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5173088" y="5665365"/>
            <a:ext cx="1614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 smtClean="0"/>
              <a:t>receiveMessage</a:t>
            </a:r>
            <a:r>
              <a:rPr lang="en-US" sz="1200" dirty="0" smtClean="0"/>
              <a:t>()</a:t>
            </a:r>
          </a:p>
        </p:txBody>
      </p:sp>
      <p:cxnSp>
        <p:nvCxnSpPr>
          <p:cNvPr id="62" name="Straight Arrow Connector 61"/>
          <p:cNvCxnSpPr/>
          <p:nvPr/>
        </p:nvCxnSpPr>
        <p:spPr>
          <a:xfrm flipV="1">
            <a:off x="4583181" y="6471558"/>
            <a:ext cx="2559824" cy="9409"/>
          </a:xfrm>
          <a:prstGeom prst="straightConnector1">
            <a:avLst/>
          </a:prstGeom>
          <a:ln w="25400">
            <a:solidFill>
              <a:schemeClr val="accent3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5335217" y="6163781"/>
            <a:ext cx="20392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 smtClean="0"/>
              <a:t>pushMessage</a:t>
            </a:r>
            <a:r>
              <a:rPr lang="en-US" sz="1400" dirty="0" smtClean="0"/>
              <a:t>()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040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777" y="168166"/>
            <a:ext cx="8596668" cy="1320800"/>
          </a:xfrm>
        </p:spPr>
        <p:txBody>
          <a:bodyPr/>
          <a:lstStyle/>
          <a:p>
            <a:r>
              <a:rPr lang="en-US" dirty="0" smtClean="0"/>
              <a:t>Next Session – WOFSim_v2.0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1940977" y="3403574"/>
            <a:ext cx="1971373" cy="263241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alphaModFix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2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7995900" y="3403574"/>
            <a:ext cx="1748640" cy="2540631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Footer Placeholder 7"/>
          <p:cNvSpPr>
            <a:spLocks noGrp="1"/>
          </p:cNvSpPr>
          <p:nvPr>
            <p:ph type="ftr" sz="quarter" idx="4294967295"/>
          </p:nvPr>
        </p:nvSpPr>
        <p:spPr>
          <a:xfrm>
            <a:off x="6003634" y="6437868"/>
            <a:ext cx="184731" cy="369332"/>
          </a:xfrm>
        </p:spPr>
        <p:txBody>
          <a:bodyPr/>
          <a:lstStyle/>
          <a:p>
            <a:endParaRPr lang="en-US" smtClean="0"/>
          </a:p>
        </p:txBody>
      </p:sp>
      <p:pic>
        <p:nvPicPr>
          <p:cNvPr id="7170" name="Picture 2" descr="Image result for phone receiver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3823047">
            <a:off x="3023184" y="4166383"/>
            <a:ext cx="751390" cy="1015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Image result for phone receiver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45951">
            <a:off x="7666699" y="4157320"/>
            <a:ext cx="751390" cy="1015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Lightning Bolt 14"/>
          <p:cNvSpPr/>
          <p:nvPr/>
        </p:nvSpPr>
        <p:spPr>
          <a:xfrm>
            <a:off x="4039776" y="4300972"/>
            <a:ext cx="3591605" cy="896918"/>
          </a:xfrm>
          <a:prstGeom prst="lightningBol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ontent Placeholder 2"/>
          <p:cNvSpPr>
            <a:spLocks noGrp="1"/>
          </p:cNvSpPr>
          <p:nvPr>
            <p:ph idx="1"/>
          </p:nvPr>
        </p:nvSpPr>
        <p:spPr>
          <a:xfrm>
            <a:off x="208777" y="1201889"/>
            <a:ext cx="10346012" cy="5329539"/>
          </a:xfrm>
        </p:spPr>
        <p:txBody>
          <a:bodyPr>
            <a:normAutofit/>
          </a:bodyPr>
          <a:lstStyle/>
          <a:p>
            <a:pPr hangingPunct="0">
              <a:spcBef>
                <a:spcPts val="1417"/>
              </a:spcBef>
              <a:buSzPct val="75000"/>
              <a:buFont typeface="Wingdings" panose="05000000000000000000" pitchFamily="2" charset="2"/>
              <a:buChar char="Ø"/>
            </a:pPr>
            <a:r>
              <a:rPr lang="en-US" sz="3200" dirty="0">
                <a:highlight>
                  <a:scrgbClr r="0" g="0" b="0">
                    <a:alpha val="0"/>
                  </a:scrgbClr>
                </a:highlight>
              </a:rPr>
              <a:t>Abbott and Costello talk over the </a:t>
            </a:r>
            <a:r>
              <a:rPr lang="en-US" sz="3200" dirty="0" smtClean="0">
                <a:highlight>
                  <a:scrgbClr r="0" g="0" b="0">
                    <a:alpha val="0"/>
                  </a:scrgbClr>
                </a:highlight>
              </a:rPr>
              <a:t>phone!</a:t>
            </a:r>
          </a:p>
          <a:p>
            <a:pPr hangingPunct="0">
              <a:spcBef>
                <a:spcPts val="1417"/>
              </a:spcBef>
              <a:buSzPct val="75000"/>
              <a:buFont typeface="Wingdings" panose="05000000000000000000" pitchFamily="2" charset="2"/>
              <a:buChar char="Ø"/>
            </a:pPr>
            <a:r>
              <a:rPr lang="en-US" sz="3200" dirty="0">
                <a:highlight>
                  <a:scrgbClr r="0" g="0" b="0">
                    <a:alpha val="0"/>
                  </a:scrgbClr>
                </a:highlight>
              </a:rPr>
              <a:t>Develops the </a:t>
            </a:r>
            <a:r>
              <a:rPr lang="en-US" sz="3200" dirty="0" smtClean="0">
                <a:highlight>
                  <a:scrgbClr r="0" g="0" b="0">
                    <a:alpha val="0"/>
                  </a:scrgbClr>
                </a:highlight>
              </a:rPr>
              <a:t>concepts </a:t>
            </a:r>
            <a:r>
              <a:rPr lang="en-US" sz="3200" dirty="0">
                <a:highlight>
                  <a:scrgbClr r="0" g="0" b="0">
                    <a:alpha val="0"/>
                  </a:scrgbClr>
                </a:highlight>
              </a:rPr>
              <a:t>of distributed simulation and socket programming with a focus on concurrency</a:t>
            </a:r>
          </a:p>
          <a:p>
            <a:pPr hangingPunct="0">
              <a:spcBef>
                <a:spcPts val="1417"/>
              </a:spcBef>
              <a:buSzPct val="75000"/>
              <a:buFont typeface="Wingdings" panose="05000000000000000000" pitchFamily="2" charset="2"/>
              <a:buChar char="Ø"/>
            </a:pPr>
            <a:endParaRPr lang="en-US" sz="3200" dirty="0">
              <a:highlight>
                <a:scrgbClr r="0" g="0" b="0">
                  <a:alpha val="0"/>
                </a:scrgbClr>
              </a:highlight>
            </a:endParaRPr>
          </a:p>
          <a:p>
            <a:pPr lvl="1" hangingPunct="0">
              <a:spcBef>
                <a:spcPts val="1417"/>
              </a:spcBef>
              <a:buSzPct val="75000"/>
              <a:buFont typeface="Wingdings" panose="05000000000000000000" pitchFamily="2" charset="2"/>
              <a:buChar char="Ø"/>
            </a:pPr>
            <a:endParaRPr lang="en-US" sz="2600" dirty="0">
              <a:highlight>
                <a:scrgbClr r="0" g="0" b="0">
                  <a:alpha val="0"/>
                </a:scrgbClr>
              </a:highlight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014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https://encrypted-tbn2.gstatic.com/images?q=tbn:ANd9GcRJ0Yp_0oeEQULa_ecQ5Tk1RuS6JGtK4mZwSG8uT-P4bgJ-fWrCrA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94506" y="1105550"/>
            <a:ext cx="3457575" cy="4695825"/>
          </a:xfrm>
          <a:prstGeom prst="rect">
            <a:avLst/>
          </a:prstGeom>
          <a:noFill/>
          <a:effectLst>
            <a:outerShdw blurRad="584200" dist="50800" dir="5400000" sx="106000" sy="106000" algn="ctr" rotWithShape="0">
              <a:srgbClr val="000000">
                <a:alpha val="43137"/>
              </a:srgbClr>
            </a:outerShdw>
          </a:effectLst>
        </p:spPr>
      </p:pic>
      <p:sp>
        <p:nvSpPr>
          <p:cNvPr id="6" name="Freeform 5"/>
          <p:cNvSpPr/>
          <p:nvPr/>
        </p:nvSpPr>
        <p:spPr bwMode="auto">
          <a:xfrm>
            <a:off x="4851094" y="1498295"/>
            <a:ext cx="1333042" cy="636029"/>
          </a:xfrm>
          <a:custGeom>
            <a:avLst/>
            <a:gdLst>
              <a:gd name="connsiteX0" fmla="*/ 1678133 w 2203288"/>
              <a:gd name="connsiteY0" fmla="*/ 54521 h 586920"/>
              <a:gd name="connsiteX1" fmla="*/ 2114552 w 2203288"/>
              <a:gd name="connsiteY1" fmla="*/ 49326 h 586920"/>
              <a:gd name="connsiteX2" fmla="*/ 140279 w 2203288"/>
              <a:gd name="connsiteY2" fmla="*/ 579262 h 586920"/>
              <a:gd name="connsiteX3" fmla="*/ 316924 w 2203288"/>
              <a:gd name="connsiteY3" fmla="*/ 314294 h 586920"/>
              <a:gd name="connsiteX0" fmla="*/ 1671349 w 2196504"/>
              <a:gd name="connsiteY0" fmla="*/ 54521 h 591872"/>
              <a:gd name="connsiteX1" fmla="*/ 2107768 w 2196504"/>
              <a:gd name="connsiteY1" fmla="*/ 49326 h 591872"/>
              <a:gd name="connsiteX2" fmla="*/ 133495 w 2196504"/>
              <a:gd name="connsiteY2" fmla="*/ 579262 h 591872"/>
              <a:gd name="connsiteX3" fmla="*/ 330922 w 2196504"/>
              <a:gd name="connsiteY3" fmla="*/ 361053 h 591872"/>
              <a:gd name="connsiteX0" fmla="*/ 1671349 w 2196504"/>
              <a:gd name="connsiteY0" fmla="*/ 54521 h 591872"/>
              <a:gd name="connsiteX1" fmla="*/ 2107768 w 2196504"/>
              <a:gd name="connsiteY1" fmla="*/ 49326 h 591872"/>
              <a:gd name="connsiteX2" fmla="*/ 1105045 w 2196504"/>
              <a:gd name="connsiteY2" fmla="*/ 335076 h 591872"/>
              <a:gd name="connsiteX3" fmla="*/ 133495 w 2196504"/>
              <a:gd name="connsiteY3" fmla="*/ 579262 h 591872"/>
              <a:gd name="connsiteX4" fmla="*/ 330922 w 2196504"/>
              <a:gd name="connsiteY4" fmla="*/ 361053 h 591872"/>
              <a:gd name="connsiteX0" fmla="*/ 1602570 w 2059277"/>
              <a:gd name="connsiteY0" fmla="*/ 47911 h 579417"/>
              <a:gd name="connsiteX1" fmla="*/ 2038989 w 2059277"/>
              <a:gd name="connsiteY1" fmla="*/ 42716 h 579417"/>
              <a:gd name="connsiteX2" fmla="*/ 1109002 w 2059277"/>
              <a:gd name="connsiteY2" fmla="*/ 479134 h 579417"/>
              <a:gd name="connsiteX3" fmla="*/ 64716 w 2059277"/>
              <a:gd name="connsiteY3" fmla="*/ 572652 h 579417"/>
              <a:gd name="connsiteX4" fmla="*/ 262143 w 2059277"/>
              <a:gd name="connsiteY4" fmla="*/ 354443 h 579417"/>
              <a:gd name="connsiteX0" fmla="*/ 1602570 w 2059277"/>
              <a:gd name="connsiteY0" fmla="*/ 40143 h 587236"/>
              <a:gd name="connsiteX1" fmla="*/ 2038989 w 2059277"/>
              <a:gd name="connsiteY1" fmla="*/ 50535 h 587236"/>
              <a:gd name="connsiteX2" fmla="*/ 1109002 w 2059277"/>
              <a:gd name="connsiteY2" fmla="*/ 486953 h 587236"/>
              <a:gd name="connsiteX3" fmla="*/ 64716 w 2059277"/>
              <a:gd name="connsiteY3" fmla="*/ 580471 h 587236"/>
              <a:gd name="connsiteX4" fmla="*/ 262143 w 2059277"/>
              <a:gd name="connsiteY4" fmla="*/ 362262 h 587236"/>
              <a:gd name="connsiteX0" fmla="*/ 1607519 w 2064226"/>
              <a:gd name="connsiteY0" fmla="*/ 40143 h 588274"/>
              <a:gd name="connsiteX1" fmla="*/ 2043938 w 2064226"/>
              <a:gd name="connsiteY1" fmla="*/ 50535 h 588274"/>
              <a:gd name="connsiteX2" fmla="*/ 1113951 w 2064226"/>
              <a:gd name="connsiteY2" fmla="*/ 486953 h 588274"/>
              <a:gd name="connsiteX3" fmla="*/ 69665 w 2064226"/>
              <a:gd name="connsiteY3" fmla="*/ 580471 h 588274"/>
              <a:gd name="connsiteX4" fmla="*/ 251506 w 2064226"/>
              <a:gd name="connsiteY4" fmla="*/ 346676 h 588274"/>
              <a:gd name="connsiteX0" fmla="*/ 1607519 w 2064226"/>
              <a:gd name="connsiteY0" fmla="*/ 43189 h 606023"/>
              <a:gd name="connsiteX1" fmla="*/ 2043938 w 2064226"/>
              <a:gd name="connsiteY1" fmla="*/ 53581 h 606023"/>
              <a:gd name="connsiteX2" fmla="*/ 1113951 w 2064226"/>
              <a:gd name="connsiteY2" fmla="*/ 536758 h 606023"/>
              <a:gd name="connsiteX3" fmla="*/ 69665 w 2064226"/>
              <a:gd name="connsiteY3" fmla="*/ 583517 h 606023"/>
              <a:gd name="connsiteX4" fmla="*/ 251506 w 2064226"/>
              <a:gd name="connsiteY4" fmla="*/ 349722 h 606023"/>
              <a:gd name="connsiteX0" fmla="*/ 1605831 w 2062538"/>
              <a:gd name="connsiteY0" fmla="*/ 43189 h 605289"/>
              <a:gd name="connsiteX1" fmla="*/ 2042250 w 2062538"/>
              <a:gd name="connsiteY1" fmla="*/ 53581 h 605289"/>
              <a:gd name="connsiteX2" fmla="*/ 1112263 w 2062538"/>
              <a:gd name="connsiteY2" fmla="*/ 536758 h 605289"/>
              <a:gd name="connsiteX3" fmla="*/ 67977 w 2062538"/>
              <a:gd name="connsiteY3" fmla="*/ 583517 h 605289"/>
              <a:gd name="connsiteX4" fmla="*/ 255014 w 2062538"/>
              <a:gd name="connsiteY4" fmla="*/ 360113 h 605289"/>
              <a:gd name="connsiteX0" fmla="*/ 1605447 w 2062455"/>
              <a:gd name="connsiteY0" fmla="*/ 39810 h 586331"/>
              <a:gd name="connsiteX1" fmla="*/ 2041866 w 2062455"/>
              <a:gd name="connsiteY1" fmla="*/ 50202 h 586331"/>
              <a:gd name="connsiteX2" fmla="*/ 1106683 w 2062455"/>
              <a:gd name="connsiteY2" fmla="*/ 481424 h 586331"/>
              <a:gd name="connsiteX3" fmla="*/ 67593 w 2062455"/>
              <a:gd name="connsiteY3" fmla="*/ 580138 h 586331"/>
              <a:gd name="connsiteX4" fmla="*/ 254630 w 2062455"/>
              <a:gd name="connsiteY4" fmla="*/ 356734 h 586331"/>
              <a:gd name="connsiteX0" fmla="*/ 1605447 w 2041866"/>
              <a:gd name="connsiteY0" fmla="*/ 45952 h 592473"/>
              <a:gd name="connsiteX1" fmla="*/ 2041866 w 2041866"/>
              <a:gd name="connsiteY1" fmla="*/ 56344 h 592473"/>
              <a:gd name="connsiteX2" fmla="*/ 1106683 w 2041866"/>
              <a:gd name="connsiteY2" fmla="*/ 487566 h 592473"/>
              <a:gd name="connsiteX3" fmla="*/ 67593 w 2041866"/>
              <a:gd name="connsiteY3" fmla="*/ 586280 h 592473"/>
              <a:gd name="connsiteX4" fmla="*/ 254630 w 2041866"/>
              <a:gd name="connsiteY4" fmla="*/ 362876 h 592473"/>
              <a:gd name="connsiteX0" fmla="*/ 1605447 w 2057187"/>
              <a:gd name="connsiteY0" fmla="*/ 43876 h 590397"/>
              <a:gd name="connsiteX1" fmla="*/ 2041866 w 2057187"/>
              <a:gd name="connsiteY1" fmla="*/ 54268 h 590397"/>
              <a:gd name="connsiteX2" fmla="*/ 1106683 w 2057187"/>
              <a:gd name="connsiteY2" fmla="*/ 485490 h 590397"/>
              <a:gd name="connsiteX3" fmla="*/ 67593 w 2057187"/>
              <a:gd name="connsiteY3" fmla="*/ 584204 h 590397"/>
              <a:gd name="connsiteX4" fmla="*/ 254630 w 2057187"/>
              <a:gd name="connsiteY4" fmla="*/ 360800 h 590397"/>
              <a:gd name="connsiteX0" fmla="*/ 1605447 w 2055014"/>
              <a:gd name="connsiteY0" fmla="*/ 48052 h 594573"/>
              <a:gd name="connsiteX1" fmla="*/ 2041866 w 2055014"/>
              <a:gd name="connsiteY1" fmla="*/ 58444 h 594573"/>
              <a:gd name="connsiteX2" fmla="*/ 1106683 w 2055014"/>
              <a:gd name="connsiteY2" fmla="*/ 489666 h 594573"/>
              <a:gd name="connsiteX3" fmla="*/ 67593 w 2055014"/>
              <a:gd name="connsiteY3" fmla="*/ 588380 h 594573"/>
              <a:gd name="connsiteX4" fmla="*/ 254630 w 2055014"/>
              <a:gd name="connsiteY4" fmla="*/ 364976 h 594573"/>
              <a:gd name="connsiteX0" fmla="*/ 1605447 w 2041898"/>
              <a:gd name="connsiteY0" fmla="*/ 54467 h 600988"/>
              <a:gd name="connsiteX1" fmla="*/ 2041866 w 2041898"/>
              <a:gd name="connsiteY1" fmla="*/ 64859 h 600988"/>
              <a:gd name="connsiteX2" fmla="*/ 1106683 w 2041898"/>
              <a:gd name="connsiteY2" fmla="*/ 496081 h 600988"/>
              <a:gd name="connsiteX3" fmla="*/ 67593 w 2041898"/>
              <a:gd name="connsiteY3" fmla="*/ 594795 h 600988"/>
              <a:gd name="connsiteX4" fmla="*/ 254630 w 2041898"/>
              <a:gd name="connsiteY4" fmla="*/ 371391 h 600988"/>
              <a:gd name="connsiteX0" fmla="*/ 1605447 w 2062455"/>
              <a:gd name="connsiteY0" fmla="*/ 29701 h 602199"/>
              <a:gd name="connsiteX1" fmla="*/ 2041866 w 2062455"/>
              <a:gd name="connsiteY1" fmla="*/ 66070 h 602199"/>
              <a:gd name="connsiteX2" fmla="*/ 1106683 w 2062455"/>
              <a:gd name="connsiteY2" fmla="*/ 497292 h 602199"/>
              <a:gd name="connsiteX3" fmla="*/ 67593 w 2062455"/>
              <a:gd name="connsiteY3" fmla="*/ 596006 h 602199"/>
              <a:gd name="connsiteX4" fmla="*/ 254630 w 2062455"/>
              <a:gd name="connsiteY4" fmla="*/ 372602 h 602199"/>
              <a:gd name="connsiteX0" fmla="*/ 1596216 w 2053224"/>
              <a:gd name="connsiteY0" fmla="*/ 29701 h 635065"/>
              <a:gd name="connsiteX1" fmla="*/ 2032635 w 2053224"/>
              <a:gd name="connsiteY1" fmla="*/ 66070 h 635065"/>
              <a:gd name="connsiteX2" fmla="*/ 1097452 w 2053224"/>
              <a:gd name="connsiteY2" fmla="*/ 497292 h 635065"/>
              <a:gd name="connsiteX3" fmla="*/ 58362 w 2053224"/>
              <a:gd name="connsiteY3" fmla="*/ 596006 h 635065"/>
              <a:gd name="connsiteX4" fmla="*/ 245399 w 2053224"/>
              <a:gd name="connsiteY4" fmla="*/ 372602 h 635065"/>
              <a:gd name="connsiteX0" fmla="*/ 1614677 w 2071685"/>
              <a:gd name="connsiteY0" fmla="*/ 29701 h 610562"/>
              <a:gd name="connsiteX1" fmla="*/ 2051096 w 2071685"/>
              <a:gd name="connsiteY1" fmla="*/ 66070 h 610562"/>
              <a:gd name="connsiteX2" fmla="*/ 1115913 w 2071685"/>
              <a:gd name="connsiteY2" fmla="*/ 497292 h 610562"/>
              <a:gd name="connsiteX3" fmla="*/ 76823 w 2071685"/>
              <a:gd name="connsiteY3" fmla="*/ 596006 h 610562"/>
              <a:gd name="connsiteX4" fmla="*/ 263860 w 2071685"/>
              <a:gd name="connsiteY4" fmla="*/ 372602 h 610562"/>
              <a:gd name="connsiteX0" fmla="*/ 1623910 w 2080918"/>
              <a:gd name="connsiteY0" fmla="*/ 29701 h 608246"/>
              <a:gd name="connsiteX1" fmla="*/ 2060329 w 2080918"/>
              <a:gd name="connsiteY1" fmla="*/ 66070 h 608246"/>
              <a:gd name="connsiteX2" fmla="*/ 1125146 w 2080918"/>
              <a:gd name="connsiteY2" fmla="*/ 497292 h 608246"/>
              <a:gd name="connsiteX3" fmla="*/ 86056 w 2080918"/>
              <a:gd name="connsiteY3" fmla="*/ 596006 h 608246"/>
              <a:gd name="connsiteX4" fmla="*/ 273093 w 2080918"/>
              <a:gd name="connsiteY4" fmla="*/ 372602 h 608246"/>
              <a:gd name="connsiteX0" fmla="*/ 1614678 w 2071686"/>
              <a:gd name="connsiteY0" fmla="*/ 29701 h 621567"/>
              <a:gd name="connsiteX1" fmla="*/ 2051097 w 2071686"/>
              <a:gd name="connsiteY1" fmla="*/ 66070 h 621567"/>
              <a:gd name="connsiteX2" fmla="*/ 1115914 w 2071686"/>
              <a:gd name="connsiteY2" fmla="*/ 497292 h 621567"/>
              <a:gd name="connsiteX3" fmla="*/ 76824 w 2071686"/>
              <a:gd name="connsiteY3" fmla="*/ 596006 h 621567"/>
              <a:gd name="connsiteX4" fmla="*/ 263861 w 2071686"/>
              <a:gd name="connsiteY4" fmla="*/ 372602 h 621567"/>
              <a:gd name="connsiteX0" fmla="*/ 1619293 w 2076301"/>
              <a:gd name="connsiteY0" fmla="*/ 29701 h 608414"/>
              <a:gd name="connsiteX1" fmla="*/ 2055712 w 2076301"/>
              <a:gd name="connsiteY1" fmla="*/ 66070 h 608414"/>
              <a:gd name="connsiteX2" fmla="*/ 1120529 w 2076301"/>
              <a:gd name="connsiteY2" fmla="*/ 497292 h 608414"/>
              <a:gd name="connsiteX3" fmla="*/ 81439 w 2076301"/>
              <a:gd name="connsiteY3" fmla="*/ 596006 h 608414"/>
              <a:gd name="connsiteX4" fmla="*/ 268476 w 2076301"/>
              <a:gd name="connsiteY4" fmla="*/ 372602 h 608414"/>
              <a:gd name="connsiteX0" fmla="*/ 1606600 w 2062710"/>
              <a:gd name="connsiteY0" fmla="*/ 32414 h 620491"/>
              <a:gd name="connsiteX1" fmla="*/ 2043019 w 2062710"/>
              <a:gd name="connsiteY1" fmla="*/ 68783 h 620491"/>
              <a:gd name="connsiteX2" fmla="*/ 1123422 w 2062710"/>
              <a:gd name="connsiteY2" fmla="*/ 551960 h 620491"/>
              <a:gd name="connsiteX3" fmla="*/ 68746 w 2062710"/>
              <a:gd name="connsiteY3" fmla="*/ 598719 h 620491"/>
              <a:gd name="connsiteX4" fmla="*/ 255783 w 2062710"/>
              <a:gd name="connsiteY4" fmla="*/ 375315 h 620491"/>
              <a:gd name="connsiteX0" fmla="*/ 1606600 w 2062710"/>
              <a:gd name="connsiteY0" fmla="*/ 32414 h 613535"/>
              <a:gd name="connsiteX1" fmla="*/ 2043019 w 2062710"/>
              <a:gd name="connsiteY1" fmla="*/ 68783 h 613535"/>
              <a:gd name="connsiteX2" fmla="*/ 1123422 w 2062710"/>
              <a:gd name="connsiteY2" fmla="*/ 551960 h 613535"/>
              <a:gd name="connsiteX3" fmla="*/ 68746 w 2062710"/>
              <a:gd name="connsiteY3" fmla="*/ 598719 h 613535"/>
              <a:gd name="connsiteX4" fmla="*/ 255783 w 2062710"/>
              <a:gd name="connsiteY4" fmla="*/ 375315 h 613535"/>
              <a:gd name="connsiteX0" fmla="*/ 1605447 w 2062455"/>
              <a:gd name="connsiteY0" fmla="*/ 31583 h 608257"/>
              <a:gd name="connsiteX1" fmla="*/ 2041866 w 2062455"/>
              <a:gd name="connsiteY1" fmla="*/ 67952 h 608257"/>
              <a:gd name="connsiteX2" fmla="*/ 1106683 w 2062455"/>
              <a:gd name="connsiteY2" fmla="*/ 535543 h 608257"/>
              <a:gd name="connsiteX3" fmla="*/ 67593 w 2062455"/>
              <a:gd name="connsiteY3" fmla="*/ 597888 h 608257"/>
              <a:gd name="connsiteX4" fmla="*/ 254630 w 2062455"/>
              <a:gd name="connsiteY4" fmla="*/ 374484 h 608257"/>
              <a:gd name="connsiteX0" fmla="*/ 1605447 w 2062455"/>
              <a:gd name="connsiteY0" fmla="*/ 31583 h 608257"/>
              <a:gd name="connsiteX1" fmla="*/ 2041866 w 2062455"/>
              <a:gd name="connsiteY1" fmla="*/ 67952 h 608257"/>
              <a:gd name="connsiteX2" fmla="*/ 1106683 w 2062455"/>
              <a:gd name="connsiteY2" fmla="*/ 535543 h 608257"/>
              <a:gd name="connsiteX3" fmla="*/ 67593 w 2062455"/>
              <a:gd name="connsiteY3" fmla="*/ 597888 h 608257"/>
              <a:gd name="connsiteX4" fmla="*/ 254630 w 2062455"/>
              <a:gd name="connsiteY4" fmla="*/ 374484 h 608257"/>
              <a:gd name="connsiteX0" fmla="*/ 1606985 w 2062797"/>
              <a:gd name="connsiteY0" fmla="*/ 34993 h 639216"/>
              <a:gd name="connsiteX1" fmla="*/ 2043404 w 2062797"/>
              <a:gd name="connsiteY1" fmla="*/ 71362 h 639216"/>
              <a:gd name="connsiteX2" fmla="*/ 1129003 w 2062797"/>
              <a:gd name="connsiteY2" fmla="*/ 601299 h 639216"/>
              <a:gd name="connsiteX3" fmla="*/ 69131 w 2062797"/>
              <a:gd name="connsiteY3" fmla="*/ 601298 h 639216"/>
              <a:gd name="connsiteX4" fmla="*/ 256168 w 2062797"/>
              <a:gd name="connsiteY4" fmla="*/ 377894 h 639216"/>
              <a:gd name="connsiteX0" fmla="*/ 1606985 w 2062797"/>
              <a:gd name="connsiteY0" fmla="*/ 34993 h 639216"/>
              <a:gd name="connsiteX1" fmla="*/ 2043404 w 2062797"/>
              <a:gd name="connsiteY1" fmla="*/ 71362 h 639216"/>
              <a:gd name="connsiteX2" fmla="*/ 1129003 w 2062797"/>
              <a:gd name="connsiteY2" fmla="*/ 601299 h 639216"/>
              <a:gd name="connsiteX3" fmla="*/ 69131 w 2062797"/>
              <a:gd name="connsiteY3" fmla="*/ 601298 h 639216"/>
              <a:gd name="connsiteX4" fmla="*/ 256168 w 2062797"/>
              <a:gd name="connsiteY4" fmla="*/ 377894 h 639216"/>
              <a:gd name="connsiteX0" fmla="*/ 1606985 w 2062797"/>
              <a:gd name="connsiteY0" fmla="*/ 34993 h 639216"/>
              <a:gd name="connsiteX1" fmla="*/ 2043404 w 2062797"/>
              <a:gd name="connsiteY1" fmla="*/ 71362 h 639216"/>
              <a:gd name="connsiteX2" fmla="*/ 1129003 w 2062797"/>
              <a:gd name="connsiteY2" fmla="*/ 601299 h 639216"/>
              <a:gd name="connsiteX3" fmla="*/ 69131 w 2062797"/>
              <a:gd name="connsiteY3" fmla="*/ 601298 h 639216"/>
              <a:gd name="connsiteX4" fmla="*/ 256168 w 2062797"/>
              <a:gd name="connsiteY4" fmla="*/ 377894 h 639216"/>
              <a:gd name="connsiteX0" fmla="*/ 1606985 w 2062797"/>
              <a:gd name="connsiteY0" fmla="*/ 34993 h 628900"/>
              <a:gd name="connsiteX1" fmla="*/ 2043404 w 2062797"/>
              <a:gd name="connsiteY1" fmla="*/ 71362 h 628900"/>
              <a:gd name="connsiteX2" fmla="*/ 1129003 w 2062797"/>
              <a:gd name="connsiteY2" fmla="*/ 601299 h 628900"/>
              <a:gd name="connsiteX3" fmla="*/ 69131 w 2062797"/>
              <a:gd name="connsiteY3" fmla="*/ 601298 h 628900"/>
              <a:gd name="connsiteX4" fmla="*/ 256168 w 2062797"/>
              <a:gd name="connsiteY4" fmla="*/ 377894 h 628900"/>
              <a:gd name="connsiteX0" fmla="*/ 1606985 w 2062797"/>
              <a:gd name="connsiteY0" fmla="*/ 34993 h 643561"/>
              <a:gd name="connsiteX1" fmla="*/ 2043404 w 2062797"/>
              <a:gd name="connsiteY1" fmla="*/ 71362 h 643561"/>
              <a:gd name="connsiteX2" fmla="*/ 1129003 w 2062797"/>
              <a:gd name="connsiteY2" fmla="*/ 601299 h 643561"/>
              <a:gd name="connsiteX3" fmla="*/ 69131 w 2062797"/>
              <a:gd name="connsiteY3" fmla="*/ 601298 h 643561"/>
              <a:gd name="connsiteX4" fmla="*/ 256168 w 2062797"/>
              <a:gd name="connsiteY4" fmla="*/ 377894 h 643561"/>
              <a:gd name="connsiteX0" fmla="*/ 1606985 w 2062797"/>
              <a:gd name="connsiteY0" fmla="*/ 34993 h 643561"/>
              <a:gd name="connsiteX1" fmla="*/ 2043404 w 2062797"/>
              <a:gd name="connsiteY1" fmla="*/ 71362 h 643561"/>
              <a:gd name="connsiteX2" fmla="*/ 1129003 w 2062797"/>
              <a:gd name="connsiteY2" fmla="*/ 601299 h 643561"/>
              <a:gd name="connsiteX3" fmla="*/ 69131 w 2062797"/>
              <a:gd name="connsiteY3" fmla="*/ 601298 h 643561"/>
              <a:gd name="connsiteX4" fmla="*/ 256168 w 2062797"/>
              <a:gd name="connsiteY4" fmla="*/ 377894 h 643561"/>
              <a:gd name="connsiteX0" fmla="*/ 1606216 w 2062624"/>
              <a:gd name="connsiteY0" fmla="*/ 33833 h 629693"/>
              <a:gd name="connsiteX1" fmla="*/ 2042635 w 2062624"/>
              <a:gd name="connsiteY1" fmla="*/ 70202 h 629693"/>
              <a:gd name="connsiteX2" fmla="*/ 1117843 w 2062624"/>
              <a:gd name="connsiteY2" fmla="*/ 579357 h 629693"/>
              <a:gd name="connsiteX3" fmla="*/ 68362 w 2062624"/>
              <a:gd name="connsiteY3" fmla="*/ 600138 h 629693"/>
              <a:gd name="connsiteX4" fmla="*/ 255399 w 2062624"/>
              <a:gd name="connsiteY4" fmla="*/ 376734 h 629693"/>
              <a:gd name="connsiteX0" fmla="*/ 1606216 w 2081989"/>
              <a:gd name="connsiteY0" fmla="*/ 24706 h 620566"/>
              <a:gd name="connsiteX1" fmla="*/ 2063417 w 2081989"/>
              <a:gd name="connsiteY1" fmla="*/ 87052 h 620566"/>
              <a:gd name="connsiteX2" fmla="*/ 1117843 w 2081989"/>
              <a:gd name="connsiteY2" fmla="*/ 570230 h 620566"/>
              <a:gd name="connsiteX3" fmla="*/ 68362 w 2081989"/>
              <a:gd name="connsiteY3" fmla="*/ 591011 h 620566"/>
              <a:gd name="connsiteX4" fmla="*/ 255399 w 2081989"/>
              <a:gd name="connsiteY4" fmla="*/ 367607 h 620566"/>
              <a:gd name="connsiteX0" fmla="*/ 1605831 w 2081891"/>
              <a:gd name="connsiteY0" fmla="*/ 24087 h 612073"/>
              <a:gd name="connsiteX1" fmla="*/ 2063032 w 2081891"/>
              <a:gd name="connsiteY1" fmla="*/ 86433 h 612073"/>
              <a:gd name="connsiteX2" fmla="*/ 1112262 w 2081891"/>
              <a:gd name="connsiteY2" fmla="*/ 554024 h 612073"/>
              <a:gd name="connsiteX3" fmla="*/ 67977 w 2081891"/>
              <a:gd name="connsiteY3" fmla="*/ 590392 h 612073"/>
              <a:gd name="connsiteX4" fmla="*/ 255014 w 2081891"/>
              <a:gd name="connsiteY4" fmla="*/ 366988 h 612073"/>
              <a:gd name="connsiteX0" fmla="*/ 1605831 w 2081891"/>
              <a:gd name="connsiteY0" fmla="*/ 24087 h 617212"/>
              <a:gd name="connsiteX1" fmla="*/ 2063032 w 2081891"/>
              <a:gd name="connsiteY1" fmla="*/ 86433 h 617212"/>
              <a:gd name="connsiteX2" fmla="*/ 1112262 w 2081891"/>
              <a:gd name="connsiteY2" fmla="*/ 554024 h 617212"/>
              <a:gd name="connsiteX3" fmla="*/ 67977 w 2081891"/>
              <a:gd name="connsiteY3" fmla="*/ 590392 h 617212"/>
              <a:gd name="connsiteX4" fmla="*/ 255014 w 2081891"/>
              <a:gd name="connsiteY4" fmla="*/ 366988 h 617212"/>
              <a:gd name="connsiteX0" fmla="*/ 1609246 w 2085306"/>
              <a:gd name="connsiteY0" fmla="*/ 24087 h 616868"/>
              <a:gd name="connsiteX1" fmla="*/ 2066447 w 2085306"/>
              <a:gd name="connsiteY1" fmla="*/ 86433 h 616868"/>
              <a:gd name="connsiteX2" fmla="*/ 1115677 w 2085306"/>
              <a:gd name="connsiteY2" fmla="*/ 554024 h 616868"/>
              <a:gd name="connsiteX3" fmla="*/ 71392 w 2085306"/>
              <a:gd name="connsiteY3" fmla="*/ 590392 h 616868"/>
              <a:gd name="connsiteX4" fmla="*/ 248038 w 2085306"/>
              <a:gd name="connsiteY4" fmla="*/ 372183 h 616868"/>
              <a:gd name="connsiteX0" fmla="*/ 1618483 w 2094543"/>
              <a:gd name="connsiteY0" fmla="*/ 24087 h 616868"/>
              <a:gd name="connsiteX1" fmla="*/ 2075684 w 2094543"/>
              <a:gd name="connsiteY1" fmla="*/ 86433 h 616868"/>
              <a:gd name="connsiteX2" fmla="*/ 1124914 w 2094543"/>
              <a:gd name="connsiteY2" fmla="*/ 554024 h 616868"/>
              <a:gd name="connsiteX3" fmla="*/ 80629 w 2094543"/>
              <a:gd name="connsiteY3" fmla="*/ 590392 h 616868"/>
              <a:gd name="connsiteX4" fmla="*/ 231298 w 2094543"/>
              <a:gd name="connsiteY4" fmla="*/ 372183 h 616868"/>
              <a:gd name="connsiteX0" fmla="*/ 1614666 w 2090726"/>
              <a:gd name="connsiteY0" fmla="*/ 24087 h 617904"/>
              <a:gd name="connsiteX1" fmla="*/ 2071867 w 2090726"/>
              <a:gd name="connsiteY1" fmla="*/ 86433 h 617904"/>
              <a:gd name="connsiteX2" fmla="*/ 1121097 w 2090726"/>
              <a:gd name="connsiteY2" fmla="*/ 554024 h 617904"/>
              <a:gd name="connsiteX3" fmla="*/ 76812 w 2090726"/>
              <a:gd name="connsiteY3" fmla="*/ 590392 h 617904"/>
              <a:gd name="connsiteX4" fmla="*/ 237872 w 2090726"/>
              <a:gd name="connsiteY4" fmla="*/ 356596 h 617904"/>
              <a:gd name="connsiteX0" fmla="*/ 1614666 w 1909046"/>
              <a:gd name="connsiteY0" fmla="*/ 12342 h 606159"/>
              <a:gd name="connsiteX1" fmla="*/ 1858507 w 1909046"/>
              <a:gd name="connsiteY1" fmla="*/ 147078 h 606159"/>
              <a:gd name="connsiteX2" fmla="*/ 1121097 w 1909046"/>
              <a:gd name="connsiteY2" fmla="*/ 542279 h 606159"/>
              <a:gd name="connsiteX3" fmla="*/ 76812 w 1909046"/>
              <a:gd name="connsiteY3" fmla="*/ 578647 h 606159"/>
              <a:gd name="connsiteX4" fmla="*/ 237872 w 1909046"/>
              <a:gd name="connsiteY4" fmla="*/ 344851 h 606159"/>
              <a:gd name="connsiteX0" fmla="*/ 1567462 w 1861842"/>
              <a:gd name="connsiteY0" fmla="*/ 12342 h 628921"/>
              <a:gd name="connsiteX1" fmla="*/ 1811303 w 1861842"/>
              <a:gd name="connsiteY1" fmla="*/ 147078 h 628921"/>
              <a:gd name="connsiteX2" fmla="*/ 1073893 w 1861842"/>
              <a:gd name="connsiteY2" fmla="*/ 542279 h 628921"/>
              <a:gd name="connsiteX3" fmla="*/ 101998 w 1861842"/>
              <a:gd name="connsiteY3" fmla="*/ 612937 h 628921"/>
              <a:gd name="connsiteX4" fmla="*/ 190668 w 1861842"/>
              <a:gd name="connsiteY4" fmla="*/ 344851 h 628921"/>
              <a:gd name="connsiteX0" fmla="*/ 1567462 w 1815327"/>
              <a:gd name="connsiteY0" fmla="*/ 9048 h 625627"/>
              <a:gd name="connsiteX1" fmla="*/ 1738913 w 1815327"/>
              <a:gd name="connsiteY1" fmla="*/ 193314 h 625627"/>
              <a:gd name="connsiteX2" fmla="*/ 1073893 w 1815327"/>
              <a:gd name="connsiteY2" fmla="*/ 538985 h 625627"/>
              <a:gd name="connsiteX3" fmla="*/ 101998 w 1815327"/>
              <a:gd name="connsiteY3" fmla="*/ 609643 h 625627"/>
              <a:gd name="connsiteX4" fmla="*/ 190668 w 1815327"/>
              <a:gd name="connsiteY4" fmla="*/ 341557 h 625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15327" h="625627">
                <a:moveTo>
                  <a:pt x="1567462" y="9048"/>
                </a:moveTo>
                <a:cubicBezTo>
                  <a:pt x="1913826" y="-37278"/>
                  <a:pt x="1821175" y="104991"/>
                  <a:pt x="1738913" y="193314"/>
                </a:cubicBezTo>
                <a:cubicBezTo>
                  <a:pt x="1656652" y="281637"/>
                  <a:pt x="1444502" y="440272"/>
                  <a:pt x="1073893" y="538985"/>
                </a:cubicBezTo>
                <a:cubicBezTo>
                  <a:pt x="718871" y="627307"/>
                  <a:pt x="249202" y="642548"/>
                  <a:pt x="101998" y="609643"/>
                </a:cubicBezTo>
                <a:cubicBezTo>
                  <a:pt x="-45206" y="576738"/>
                  <a:pt x="-47457" y="496121"/>
                  <a:pt x="190668" y="341557"/>
                </a:cubicBezTo>
              </a:path>
            </a:pathLst>
          </a:custGeom>
          <a:noFill/>
          <a:ln w="127000" cap="flat" cmpd="sng" algn="ctr">
            <a:solidFill>
              <a:srgbClr val="0033CC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b="1" dirty="0">
              <a:solidFill>
                <a:srgbClr val="FAFD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08777" y="168166"/>
            <a:ext cx="8596668" cy="1320800"/>
          </a:xfrm>
        </p:spPr>
        <p:txBody>
          <a:bodyPr/>
          <a:lstStyle/>
          <a:p>
            <a:r>
              <a:rPr lang="en-US" dirty="0" smtClean="0"/>
              <a:t>Questions??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8068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474" y="1669903"/>
            <a:ext cx="6394895" cy="3022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505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1309</TotalTime>
  <Words>1510</Words>
  <Application>Microsoft Office PowerPoint</Application>
  <PresentationFormat>Widescreen</PresentationFormat>
  <Paragraphs>254</Paragraphs>
  <Slides>28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Arial</vt:lpstr>
      <vt:lpstr>Calibri</vt:lpstr>
      <vt:lpstr>Monospac821 BT</vt:lpstr>
      <vt:lpstr>Trebuchet MS</vt:lpstr>
      <vt:lpstr>Wingdings</vt:lpstr>
      <vt:lpstr>Wingdings 3</vt:lpstr>
      <vt:lpstr>Facet</vt:lpstr>
      <vt:lpstr>The Simulation Architecture Sessions  </vt:lpstr>
      <vt:lpstr>Simulations Approximate Reality</vt:lpstr>
      <vt:lpstr>Simulations Approximate Reality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Next Session – WOFSim_v2.0</vt:lpstr>
      <vt:lpstr>Questions??</vt:lpstr>
      <vt:lpstr>PowerPoint Presentation</vt:lpstr>
    </vt:vector>
  </TitlesOfParts>
  <Company>Lockheed Martin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keywords/>
  <cp:lastModifiedBy>Administrator</cp:lastModifiedBy>
  <cp:revision>67</cp:revision>
  <dcterms:created xsi:type="dcterms:W3CDTF">2018-08-28T02:07:48Z</dcterms:created>
  <dcterms:modified xsi:type="dcterms:W3CDTF">2018-08-29T13:58:45Z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M SIP Document Sensitivity">
    <vt:lpwstr/>
  </property>
  <property fmtid="{D5CDD505-2E9C-101B-9397-08002B2CF9AE}" pid="3" name="Document Author">
    <vt:lpwstr>ACCT04\pscheps</vt:lpwstr>
  </property>
  <property fmtid="{D5CDD505-2E9C-101B-9397-08002B2CF9AE}" pid="4" name="Document Sensitivity">
    <vt:lpwstr>1</vt:lpwstr>
  </property>
  <property fmtid="{D5CDD505-2E9C-101B-9397-08002B2CF9AE}" pid="5" name="ThirdParty">
    <vt:lpwstr/>
  </property>
  <property fmtid="{D5CDD505-2E9C-101B-9397-08002B2CF9AE}" pid="6" name="OCI Restriction">
    <vt:bool>false</vt:bool>
  </property>
  <property fmtid="{D5CDD505-2E9C-101B-9397-08002B2CF9AE}" pid="7" name="OCI Additional Info">
    <vt:lpwstr/>
  </property>
  <property fmtid="{D5CDD505-2E9C-101B-9397-08002B2CF9AE}" pid="8" name="Allow Header Overwrite">
    <vt:bool>true</vt:bool>
  </property>
  <property fmtid="{D5CDD505-2E9C-101B-9397-08002B2CF9AE}" pid="9" name="Allow Footer Overwrite">
    <vt:bool>true</vt:bool>
  </property>
  <property fmtid="{D5CDD505-2E9C-101B-9397-08002B2CF9AE}" pid="10" name="Multiple Selected">
    <vt:lpwstr>-1</vt:lpwstr>
  </property>
  <property fmtid="{D5CDD505-2E9C-101B-9397-08002B2CF9AE}" pid="11" name="SIPLongWording">
    <vt:lpwstr/>
  </property>
  <property fmtid="{D5CDD505-2E9C-101B-9397-08002B2CF9AE}" pid="12" name="checkedProgramsCount">
    <vt:i4>0</vt:i4>
  </property>
  <property fmtid="{D5CDD505-2E9C-101B-9397-08002B2CF9AE}" pid="13" name="ExpCountry">
    <vt:lpwstr/>
  </property>
  <property fmtid="{D5CDD505-2E9C-101B-9397-08002B2CF9AE}" pid="14" name="_AdHocReviewCycleID">
    <vt:i4>1932495094</vt:i4>
  </property>
  <property fmtid="{D5CDD505-2E9C-101B-9397-08002B2CF9AE}" pid="15" name="_NewReviewCycle">
    <vt:lpwstr/>
  </property>
  <property fmtid="{D5CDD505-2E9C-101B-9397-08002B2CF9AE}" pid="16" name="_EmailSubject">
    <vt:lpwstr/>
  </property>
  <property fmtid="{D5CDD505-2E9C-101B-9397-08002B2CF9AE}" pid="17" name="_AuthorEmail">
    <vt:lpwstr>paul.j.scheps@lmco.com</vt:lpwstr>
  </property>
  <property fmtid="{D5CDD505-2E9C-101B-9397-08002B2CF9AE}" pid="18" name="_AuthorEmailDisplayName">
    <vt:lpwstr>Scheps, Paul J (US)</vt:lpwstr>
  </property>
</Properties>
</file>